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3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Class balance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8BDF8"/>
              </a:solidFill>
              <a:effectLst/>
            </c:spPr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Not &lt;30 readmission</c:v>
                </c:pt>
                <c:pt idx="1">
                  <c:v>&lt;30 readmission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88.6</c:v>
                </c:pt>
                <c:pt idx="1">
                  <c:v>11.4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Validation F1</c:v>
                </c:pt>
              </c:strCache>
            </c:strRef>
          </c:tx>
          <c:spPr>
            <a:solidFill>
              <a:srgbClr val="4ADE8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8FAF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XGB
Weighted</c:v>
                  </c:pt>
                  <c:pt idx="1">
                    <c:v>LGBM
Tuned</c:v>
                  </c:pt>
                  <c:pt idx="2">
                    <c:v>50/50
Ensemble</c:v>
                  </c:pt>
                  <c:pt idx="3">
                    <c:v>60/40
Ensemble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0.2953</c:v>
                </c:pt>
                <c:pt idx="1">
                  <c:v>0.2979</c:v>
                </c:pt>
                <c:pt idx="2">
                  <c:v>0.2996</c:v>
                </c:pt>
                <c:pt idx="3">
                  <c:v>0.3001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F8FAF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CBD5E1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4ADE8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8FAF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Precision</c:v>
                  </c:pt>
                  <c:pt idx="1">
                    <c:v>Recall</c:v>
                  </c:pt>
                  <c:pt idx="2">
                    <c:v>F1</c:v>
                  </c:pt>
                  <c:pt idx="3">
                    <c:v>ROC-AUC</c:v>
                  </c:pt>
                  <c:pt idx="4">
                    <c:v>PR-AUC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0.1968</c:v>
                </c:pt>
                <c:pt idx="1">
                  <c:v>0.4986</c:v>
                </c:pt>
                <c:pt idx="2">
                  <c:v>0.2822</c:v>
                </c:pt>
                <c:pt idx="3">
                  <c:v>0.6768</c:v>
                </c:pt>
                <c:pt idx="4">
                  <c:v>0.239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F8FAF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ahmedalwaer1/diabetes-readmission-ml" TargetMode="External"/><Relationship Id="rId2" Type="http://schemas.openxmlformats.org/officeDocument/2006/relationships/hyperlink" Target="https://diabetes-readmission-ml-ehkdw6rnzrjqcbfugsenjz.streamlit.app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98280" y="502920"/>
            <a:ext cx="2560320" cy="2560320"/>
          </a:xfrm>
          <a:prstGeom prst="ellipse">
            <a:avLst/>
          </a:prstGeom>
          <a:solidFill>
            <a:srgbClr val="38BDF8">
              <a:alpha val="2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" y="5166360"/>
            <a:ext cx="1325880" cy="1325880"/>
          </a:xfrm>
          <a:prstGeom prst="ellipse">
            <a:avLst/>
          </a:prstGeom>
          <a:solidFill>
            <a:srgbClr val="4ADE80">
              <a:alpha val="14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594360"/>
            <a:ext cx="1508760" cy="329184"/>
          </a:xfrm>
          <a:prstGeom prst="roundRect">
            <a:avLst>
              <a:gd name="adj" fmla="val 22222"/>
            </a:avLst>
          </a:prstGeom>
          <a:solidFill>
            <a:srgbClr val="4ADE8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667512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020"/>
                </a:solidFill>
              </a:rPr>
              <a:t>Final ML Project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40080" y="1325880"/>
            <a:ext cx="7040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Diabetes Hospital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Readmission Prediction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85800" y="3127248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Machine Learning pipeline for predicting 30‑day hospital readmission using patient encounter data.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85800" y="3977640"/>
            <a:ext cx="7818120" cy="1325880"/>
          </a:xfrm>
          <a:prstGeom prst="roundRect">
            <a:avLst>
              <a:gd name="adj" fmla="val 5517"/>
            </a:avLst>
          </a:prstGeom>
          <a:solidFill>
            <a:srgbClr val="172033">
              <a:alpha val="96000"/>
            </a:srgbClr>
          </a:solidFill>
          <a:ln w="6350">
            <a:solidFill>
              <a:srgbClr val="2432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27939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Final model: 60% Tuned LightGBM + 40% XGBoost with engineered features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46451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Deployment: FastAPI + Streamlit Cloud • Validation‑selected threshold = 0.13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13232" y="623620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NTI Machine Learning Project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0896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roadmap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From raw hospital encounters to a deployed readmission risk model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9509760" y="6528816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Diabetes Hospital Readmission Prediction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512064" y="1325880"/>
            <a:ext cx="1627632" cy="4251960"/>
          </a:xfrm>
          <a:prstGeom prst="roundRect">
            <a:avLst>
              <a:gd name="adj" fmla="val 4494"/>
            </a:avLst>
          </a:prstGeom>
          <a:solidFill>
            <a:srgbClr val="172033"/>
          </a:solidFill>
          <a:ln w="6350">
            <a:solidFill>
              <a:srgbClr val="2B38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" y="15544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8BDF8"/>
                </a:solidFill>
              </a:rPr>
              <a:t>01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76656" y="2112264"/>
            <a:ext cx="1298448" cy="0"/>
          </a:xfrm>
          <a:prstGeom prst="line">
            <a:avLst/>
          </a:prstGeom>
          <a:noFill/>
          <a:ln w="1651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386584"/>
            <a:ext cx="13350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Data &amp; Problem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8368" y="3200400"/>
            <a:ext cx="1335024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CBD5E1"/>
                </a:solidFill>
              </a:rPr>
              <a:t>Target: readmitted within 30 days</a:t>
            </a:r>
            <a:endParaRPr lang="en-US" sz="1030" dirty="0"/>
          </a:p>
        </p:txBody>
      </p:sp>
      <p:sp>
        <p:nvSpPr>
          <p:cNvPr id="11" name="Shape 9"/>
          <p:cNvSpPr/>
          <p:nvPr/>
        </p:nvSpPr>
        <p:spPr>
          <a:xfrm>
            <a:off x="2267712" y="1325880"/>
            <a:ext cx="1627632" cy="4251960"/>
          </a:xfrm>
          <a:prstGeom prst="roundRect">
            <a:avLst>
              <a:gd name="adj" fmla="val 4494"/>
            </a:avLst>
          </a:prstGeom>
          <a:solidFill>
            <a:srgbClr val="172033"/>
          </a:solidFill>
          <a:ln w="6350">
            <a:solidFill>
              <a:srgbClr val="2B38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04872" y="15544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8BDF8"/>
                </a:solidFill>
              </a:rPr>
              <a:t>02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2432304" y="2112264"/>
            <a:ext cx="1298448" cy="0"/>
          </a:xfrm>
          <a:prstGeom prst="line">
            <a:avLst/>
          </a:prstGeom>
          <a:noFill/>
          <a:ln w="16510">
            <a:solidFill>
              <a:srgbClr val="38BD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14016" y="2386584"/>
            <a:ext cx="13350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EDA &amp; Cleaning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414016" y="3200400"/>
            <a:ext cx="1335024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CBD5E1"/>
                </a:solidFill>
              </a:rPr>
              <a:t>Missing values, outliers, duplicates, class balance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4023360" y="1325880"/>
            <a:ext cx="1627632" cy="4251960"/>
          </a:xfrm>
          <a:prstGeom prst="roundRect">
            <a:avLst>
              <a:gd name="adj" fmla="val 4494"/>
            </a:avLst>
          </a:prstGeom>
          <a:solidFill>
            <a:srgbClr val="172033"/>
          </a:solidFill>
          <a:ln w="6350">
            <a:solidFill>
              <a:srgbClr val="2B385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60520" y="15544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8BDF8"/>
                </a:solidFill>
              </a:rPr>
              <a:t>03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187952" y="2112264"/>
            <a:ext cx="1298448" cy="0"/>
          </a:xfrm>
          <a:prstGeom prst="line">
            <a:avLst/>
          </a:prstGeom>
          <a:noFill/>
          <a:ln w="16510">
            <a:solidFill>
              <a:srgbClr val="38BD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69664" y="2386584"/>
            <a:ext cx="13350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Preprocessing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169664" y="3200400"/>
            <a:ext cx="1335024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CBD5E1"/>
                </a:solidFill>
              </a:rPr>
              <a:t>Encoding, scaling, patient-level split</a:t>
            </a:r>
            <a:endParaRPr lang="en-US" sz="1030" dirty="0"/>
          </a:p>
        </p:txBody>
      </p:sp>
      <p:sp>
        <p:nvSpPr>
          <p:cNvPr id="21" name="Shape 19"/>
          <p:cNvSpPr/>
          <p:nvPr/>
        </p:nvSpPr>
        <p:spPr>
          <a:xfrm>
            <a:off x="5779008" y="1325880"/>
            <a:ext cx="1627632" cy="4251960"/>
          </a:xfrm>
          <a:prstGeom prst="roundRect">
            <a:avLst>
              <a:gd name="adj" fmla="val 4494"/>
            </a:avLst>
          </a:prstGeom>
          <a:solidFill>
            <a:srgbClr val="172033"/>
          </a:solidFill>
          <a:ln w="6350">
            <a:solidFill>
              <a:srgbClr val="2B385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16168" y="15544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8BDF8"/>
                </a:solidFill>
              </a:rPr>
              <a:t>04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5943600" y="2112264"/>
            <a:ext cx="1298448" cy="0"/>
          </a:xfrm>
          <a:prstGeom prst="line">
            <a:avLst/>
          </a:prstGeom>
          <a:noFill/>
          <a:ln w="16510">
            <a:solidFill>
              <a:srgbClr val="38BD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25312" y="2386584"/>
            <a:ext cx="13350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Modeling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925312" y="3200400"/>
            <a:ext cx="1335024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CBD5E1"/>
                </a:solidFill>
              </a:rPr>
              <a:t>Baseline + advanced imbalance handling</a:t>
            </a:r>
            <a:endParaRPr lang="en-US" sz="1030" dirty="0"/>
          </a:p>
        </p:txBody>
      </p:sp>
      <p:sp>
        <p:nvSpPr>
          <p:cNvPr id="26" name="Shape 24"/>
          <p:cNvSpPr/>
          <p:nvPr/>
        </p:nvSpPr>
        <p:spPr>
          <a:xfrm>
            <a:off x="7534656" y="1325880"/>
            <a:ext cx="1627632" cy="4251960"/>
          </a:xfrm>
          <a:prstGeom prst="roundRect">
            <a:avLst>
              <a:gd name="adj" fmla="val 4494"/>
            </a:avLst>
          </a:prstGeom>
          <a:solidFill>
            <a:srgbClr val="172033"/>
          </a:solidFill>
          <a:ln w="6350">
            <a:solidFill>
              <a:srgbClr val="2B385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71816" y="15544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8BDF8"/>
                </a:solidFill>
              </a:rPr>
              <a:t>05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7699248" y="2112264"/>
            <a:ext cx="1298448" cy="0"/>
          </a:xfrm>
          <a:prstGeom prst="line">
            <a:avLst/>
          </a:prstGeom>
          <a:noFill/>
          <a:ln w="16510">
            <a:solidFill>
              <a:srgbClr val="38BD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0" y="2386584"/>
            <a:ext cx="13350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Optimization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680960" y="3200400"/>
            <a:ext cx="1335024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CBD5E1"/>
                </a:solidFill>
              </a:rPr>
              <a:t>Threshold tuning, CV search, ensemble</a:t>
            </a:r>
            <a:endParaRPr lang="en-US" sz="1030" dirty="0"/>
          </a:p>
        </p:txBody>
      </p:sp>
      <p:sp>
        <p:nvSpPr>
          <p:cNvPr id="31" name="Shape 29"/>
          <p:cNvSpPr/>
          <p:nvPr/>
        </p:nvSpPr>
        <p:spPr>
          <a:xfrm>
            <a:off x="9290304" y="1325880"/>
            <a:ext cx="1627632" cy="4251960"/>
          </a:xfrm>
          <a:prstGeom prst="roundRect">
            <a:avLst>
              <a:gd name="adj" fmla="val 4494"/>
            </a:avLst>
          </a:prstGeom>
          <a:solidFill>
            <a:srgbClr val="172033"/>
          </a:solidFill>
          <a:ln w="6350">
            <a:solidFill>
              <a:srgbClr val="2B385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427464" y="15544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DE80"/>
                </a:solidFill>
              </a:rPr>
              <a:t>06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9454896" y="2112264"/>
            <a:ext cx="1298448" cy="0"/>
          </a:xfrm>
          <a:prstGeom prst="line">
            <a:avLst/>
          </a:prstGeom>
          <a:noFill/>
          <a:ln w="16510">
            <a:solidFill>
              <a:srgbClr val="4ADE8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436608" y="2386584"/>
            <a:ext cx="13350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Deployment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9436608" y="3200400"/>
            <a:ext cx="1335024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CBD5E1"/>
                </a:solidFill>
              </a:rPr>
              <a:t>Joblib bundle, FastAPI, Streamlit</a:t>
            </a:r>
            <a:endParaRPr lang="en-US" sz="10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0896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&amp; objective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Predict early readmission risk from diabetic patient encounter information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9509760" y="6528816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Diabetes Hospital Readmission Prediction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58368" y="1188720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8BDF8"/>
                </a:solidFill>
              </a:rPr>
              <a:t>PROBLEM FRAMING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658368" y="146304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</a:rPr>
              <a:t>Can we identify patients who are likely to be readmitted within 30 days?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713232" y="2423160"/>
            <a:ext cx="5303520" cy="1874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CBD5E1"/>
                </a:solidFill>
              </a:rPr>
              <a:t>Task type: binary classification</a:t>
            </a:r>
            <a:endParaRPr lang="en-US" sz="1320" dirty="0"/>
          </a:p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CBD5E1"/>
                </a:solidFill>
              </a:rPr>
              <a:t>Positive class: readmitted in less than 30 days</a:t>
            </a:r>
            <a:endParaRPr lang="en-US" sz="1320" dirty="0"/>
          </a:p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CBD5E1"/>
                </a:solidFill>
              </a:rPr>
              <a:t>Business goal: surface higher-risk patients earlier</a:t>
            </a:r>
            <a:endParaRPr lang="en-US" sz="1320" dirty="0"/>
          </a:p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CBD5E1"/>
                </a:solidFill>
              </a:rPr>
              <a:t>Evaluation must focus on minority-class performance, not accuracy only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6583680" y="1417320"/>
            <a:ext cx="2148840" cy="1097280"/>
          </a:xfrm>
          <a:prstGeom prst="roundRect">
            <a:avLst>
              <a:gd name="adj" fmla="val 6667"/>
            </a:avLst>
          </a:prstGeom>
          <a:solidFill>
            <a:srgbClr val="172033"/>
          </a:solidFill>
          <a:ln w="6350">
            <a:solidFill>
              <a:srgbClr val="24324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0" y="1417320"/>
            <a:ext cx="54864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48272" y="159105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&lt;30 days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748272" y="20299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</a:rPr>
              <a:t>Target class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6748272" y="2240280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4A3B8"/>
                </a:solidFill>
              </a:rPr>
              <a:t>early readmission</a:t>
            </a:r>
            <a:endParaRPr lang="en-US" sz="720" dirty="0"/>
          </a:p>
        </p:txBody>
      </p:sp>
      <p:sp>
        <p:nvSpPr>
          <p:cNvPr id="14" name="Shape 12"/>
          <p:cNvSpPr/>
          <p:nvPr/>
        </p:nvSpPr>
        <p:spPr>
          <a:xfrm>
            <a:off x="9052560" y="1417320"/>
            <a:ext cx="2240280" cy="1097280"/>
          </a:xfrm>
          <a:prstGeom prst="roundRect">
            <a:avLst>
              <a:gd name="adj" fmla="val 6667"/>
            </a:avLst>
          </a:prstGeom>
          <a:solidFill>
            <a:srgbClr val="172033"/>
          </a:solidFill>
          <a:ln w="6350">
            <a:solidFill>
              <a:srgbClr val="24324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052560" y="1417320"/>
            <a:ext cx="54864" cy="1097280"/>
          </a:xfrm>
          <a:prstGeom prst="rect">
            <a:avLst/>
          </a:prstGeom>
          <a:solidFill>
            <a:srgbClr val="4ADE8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17152" y="159105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Recall / F1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217152" y="202996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</a:rPr>
              <a:t>Primary focus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9217152" y="224028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4A3B8"/>
                </a:solidFill>
              </a:rPr>
              <a:t>minority-class metrics</a:t>
            </a:r>
            <a:endParaRPr lang="en-US" sz="720" dirty="0"/>
          </a:p>
        </p:txBody>
      </p:sp>
      <p:sp>
        <p:nvSpPr>
          <p:cNvPr id="19" name="Shape 17"/>
          <p:cNvSpPr/>
          <p:nvPr/>
        </p:nvSpPr>
        <p:spPr>
          <a:xfrm>
            <a:off x="6583680" y="2880360"/>
            <a:ext cx="4709160" cy="2514600"/>
          </a:xfrm>
          <a:prstGeom prst="roundRect">
            <a:avLst>
              <a:gd name="adj" fmla="val 2909"/>
            </a:avLst>
          </a:prstGeom>
          <a:solidFill>
            <a:srgbClr val="172033"/>
          </a:solidFill>
          <a:ln w="6350">
            <a:solidFill>
              <a:srgbClr val="2B385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12280" y="315468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Why accuracy alone is misleading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812280" y="3611880"/>
            <a:ext cx="416052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CBD5E1"/>
                </a:solidFill>
              </a:rPr>
              <a:t>The dataset is imbalanced: most encounters are not readmitted within 30 days. A model can appear accurate while missing many high-risk patients. We therefore track Precision, Recall, F1, ROC-AUC and PR-AUC.</a:t>
            </a:r>
            <a:endParaRPr lang="en-US" sz="1220" dirty="0"/>
          </a:p>
        </p:txBody>
      </p:sp>
      <p:sp>
        <p:nvSpPr>
          <p:cNvPr id="22" name="Shape 20"/>
          <p:cNvSpPr/>
          <p:nvPr/>
        </p:nvSpPr>
        <p:spPr>
          <a:xfrm>
            <a:off x="6812280" y="4892040"/>
            <a:ext cx="2423160" cy="329184"/>
          </a:xfrm>
          <a:prstGeom prst="roundRect">
            <a:avLst>
              <a:gd name="adj" fmla="val 22222"/>
            </a:avLst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85432" y="4965192"/>
            <a:ext cx="2276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020"/>
                </a:solidFill>
              </a:rPr>
              <a:t>Clinical judgment remains essential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0896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 &amp; target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Real hospital readmission data with an imbalanced minority class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9509760" y="6528816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Diabetes Hospital Readmission Prediction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58368" y="123444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172033"/>
          </a:solidFill>
          <a:ln w="6350">
            <a:solidFill>
              <a:srgbClr val="24324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234440"/>
            <a:ext cx="54864" cy="1005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408176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101,766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22960" y="1847088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</a:rPr>
              <a:t>Rows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2880360" y="123444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172033"/>
          </a:solidFill>
          <a:ln w="6350">
            <a:solidFill>
              <a:srgbClr val="24324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80360" y="1234440"/>
            <a:ext cx="54864" cy="1005840"/>
          </a:xfrm>
          <a:prstGeom prst="rect">
            <a:avLst/>
          </a:prstGeom>
          <a:solidFill>
            <a:srgbClr val="4ADE8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44952" y="1408176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50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044952" y="1847088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</a:rPr>
              <a:t>Initial columns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5102352" y="123444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172033"/>
          </a:solidFill>
          <a:ln w="6350">
            <a:solidFill>
              <a:srgbClr val="24324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02352" y="1234440"/>
            <a:ext cx="54864" cy="1005840"/>
          </a:xfrm>
          <a:prstGeom prst="rect">
            <a:avLst/>
          </a:prstGeom>
          <a:solidFill>
            <a:srgbClr val="A78BF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66944" y="1408176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Binary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266944" y="1847088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</a:rPr>
              <a:t>Task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7315200" y="123444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172033"/>
          </a:solidFill>
          <a:ln w="6350">
            <a:solidFill>
              <a:srgbClr val="24324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0" y="1234440"/>
            <a:ext cx="54864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79792" y="1408176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≈11.4%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479792" y="1847088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</a:rPr>
              <a:t>Positive class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7479792" y="2057400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4A3B8"/>
                </a:solidFill>
              </a:rPr>
              <a:t>&lt;30 readmission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676656" y="2743200"/>
            <a:ext cx="5349240" cy="2743200"/>
          </a:xfrm>
          <a:prstGeom prst="roundRect">
            <a:avLst>
              <a:gd name="adj" fmla="val 2667"/>
            </a:avLst>
          </a:prstGeom>
          <a:solidFill>
            <a:srgbClr val="172033"/>
          </a:solidFill>
          <a:ln w="6350">
            <a:solidFill>
              <a:srgbClr val="2B385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30175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Feature groups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50976" y="3456432"/>
            <a:ext cx="4663440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40" dirty="0">
                <a:solidFill>
                  <a:srgbClr val="CBD5E1"/>
                </a:solidFill>
              </a:rPr>
              <a:t>Demographics: race, gender, age</a:t>
            </a:r>
            <a:endParaRPr lang="en-US" sz="1040" dirty="0"/>
          </a:p>
          <a:p>
            <a:pPr marL="152400" indent="-152400">
              <a:buSzPct val="100000"/>
              <a:buChar char="•"/>
            </a:pPr>
            <a:r>
              <a:rPr lang="en-US" sz="1040" dirty="0">
                <a:solidFill>
                  <a:srgbClr val="CBD5E1"/>
                </a:solidFill>
              </a:rPr>
              <a:t>Admission details: type, source, disposition, time in hospital</a:t>
            </a:r>
            <a:endParaRPr lang="en-US" sz="1040" dirty="0"/>
          </a:p>
          <a:p>
            <a:pPr marL="152400" indent="-152400">
              <a:buSzPct val="100000"/>
              <a:buChar char="•"/>
            </a:pPr>
            <a:r>
              <a:rPr lang="en-US" sz="1040" dirty="0">
                <a:solidFill>
                  <a:srgbClr val="CBD5E1"/>
                </a:solidFill>
              </a:rPr>
              <a:t>Clinical activity: labs, procedures, medications, diagnoses</a:t>
            </a:r>
            <a:endParaRPr lang="en-US" sz="1040" dirty="0"/>
          </a:p>
          <a:p>
            <a:pPr marL="152400" indent="-152400">
              <a:buSzPct val="100000"/>
              <a:buChar char="•"/>
            </a:pPr>
            <a:r>
              <a:rPr lang="en-US" sz="1040" dirty="0">
                <a:solidFill>
                  <a:srgbClr val="CBD5E1"/>
                </a:solidFill>
              </a:rPr>
              <a:t>Diabetes medications and treatment changes</a:t>
            </a:r>
            <a:endParaRPr lang="en-US" sz="1040" dirty="0"/>
          </a:p>
          <a:p>
            <a:pPr marL="152400" indent="-152400">
              <a:buSzPct val="100000"/>
              <a:buChar char="•"/>
            </a:pPr>
            <a:r>
              <a:rPr lang="en-US" sz="1040" dirty="0">
                <a:solidFill>
                  <a:srgbClr val="CBD5E1"/>
                </a:solidFill>
              </a:rPr>
              <a:t>Previous inpatient / emergency / outpatient visits</a:t>
            </a:r>
            <a:endParaRPr lang="en-US" sz="1040" dirty="0"/>
          </a:p>
        </p:txBody>
      </p:sp>
      <p:graphicFrame>
        <p:nvGraphicFramePr>
          <p:cNvPr id="26" name="Chart 0" descr=""/>
          <p:cNvGraphicFramePr/>
          <p:nvPr/>
        </p:nvGraphicFramePr>
        <p:xfrm>
          <a:off x="6446520" y="2542032"/>
          <a:ext cx="438912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7" name="Text 24"/>
          <p:cNvSpPr/>
          <p:nvPr/>
        </p:nvSpPr>
        <p:spPr>
          <a:xfrm>
            <a:off x="6629400" y="22677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Class balance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0896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Libraries &amp; tools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Key Python packages used across analysis, modeling and deployment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9509760" y="6528816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Diabetes Hospital Readmission Prediction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777240" y="1417320"/>
            <a:ext cx="3154680" cy="4206240"/>
          </a:xfrm>
          <a:prstGeom prst="roundRect">
            <a:avLst>
              <a:gd name="adj" fmla="val 2319"/>
            </a:avLst>
          </a:prstGeom>
          <a:solidFill>
            <a:srgbClr val="172033"/>
          </a:solidFill>
          <a:ln w="6350">
            <a:solidFill>
              <a:srgbClr val="2B38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96696" y="1719072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8BDF8"/>
                </a:solidFill>
              </a:rPr>
              <a:t>Data &amp; EDA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1033272" y="2267712"/>
            <a:ext cx="2606040" cy="384048"/>
          </a:xfrm>
          <a:prstGeom prst="roundRect">
            <a:avLst>
              <a:gd name="adj" fmla="val 14286"/>
            </a:avLst>
          </a:prstGeom>
          <a:solidFill>
            <a:srgbClr val="1F2A4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237744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</a:rPr>
              <a:t>pandas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033272" y="2862072"/>
            <a:ext cx="2606040" cy="384048"/>
          </a:xfrm>
          <a:prstGeom prst="roundRect">
            <a:avLst>
              <a:gd name="adj" fmla="val 14286"/>
            </a:avLst>
          </a:prstGeom>
          <a:solidFill>
            <a:srgbClr val="1F2A4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297180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</a:rPr>
              <a:t>numpy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033272" y="3456432"/>
            <a:ext cx="2606040" cy="384048"/>
          </a:xfrm>
          <a:prstGeom prst="roundRect">
            <a:avLst>
              <a:gd name="adj" fmla="val 14286"/>
            </a:avLst>
          </a:prstGeom>
          <a:solidFill>
            <a:srgbClr val="1F2A4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356616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</a:rPr>
              <a:t>matplotlib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1033272" y="4050792"/>
            <a:ext cx="2606040" cy="384048"/>
          </a:xfrm>
          <a:prstGeom prst="roundRect">
            <a:avLst>
              <a:gd name="adj" fmla="val 14286"/>
            </a:avLst>
          </a:prstGeom>
          <a:solidFill>
            <a:srgbClr val="1F2A4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41605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</a:rPr>
              <a:t>seaborn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0" y="1417320"/>
            <a:ext cx="3154680" cy="4206240"/>
          </a:xfrm>
          <a:prstGeom prst="roundRect">
            <a:avLst>
              <a:gd name="adj" fmla="val 2319"/>
            </a:avLst>
          </a:prstGeom>
          <a:solidFill>
            <a:srgbClr val="172033"/>
          </a:solidFill>
          <a:ln w="6350">
            <a:solidFill>
              <a:srgbClr val="2B385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91456" y="1719072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DE80"/>
                </a:solidFill>
              </a:rPr>
              <a:t>ML Core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4828032" y="2267712"/>
            <a:ext cx="2606040" cy="384048"/>
          </a:xfrm>
          <a:prstGeom prst="roundRect">
            <a:avLst>
              <a:gd name="adj" fmla="val 14286"/>
            </a:avLst>
          </a:prstGeom>
          <a:solidFill>
            <a:srgbClr val="1F2A4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237744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</a:rPr>
              <a:t>scikit-learn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828032" y="2862072"/>
            <a:ext cx="2606040" cy="384048"/>
          </a:xfrm>
          <a:prstGeom prst="roundRect">
            <a:avLst>
              <a:gd name="adj" fmla="val 14286"/>
            </a:avLst>
          </a:prstGeom>
          <a:solidFill>
            <a:srgbClr val="1F2A4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297180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</a:rPr>
              <a:t>xgboost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828032" y="3456432"/>
            <a:ext cx="2606040" cy="384048"/>
          </a:xfrm>
          <a:prstGeom prst="roundRect">
            <a:avLst>
              <a:gd name="adj" fmla="val 14286"/>
            </a:avLst>
          </a:prstGeom>
          <a:solidFill>
            <a:srgbClr val="1F2A4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356616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</a:rPr>
              <a:t>lightgbm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828032" y="4050792"/>
            <a:ext cx="2606040" cy="384048"/>
          </a:xfrm>
          <a:prstGeom prst="roundRect">
            <a:avLst>
              <a:gd name="adj" fmla="val 14286"/>
            </a:avLst>
          </a:prstGeom>
          <a:solidFill>
            <a:srgbClr val="1F2A4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83480" y="41605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</a:rPr>
              <a:t>imbalanced-learn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366760" y="1417320"/>
            <a:ext cx="3154680" cy="4206240"/>
          </a:xfrm>
          <a:prstGeom prst="roundRect">
            <a:avLst>
              <a:gd name="adj" fmla="val 2319"/>
            </a:avLst>
          </a:prstGeom>
          <a:solidFill>
            <a:srgbClr val="172033"/>
          </a:solidFill>
          <a:ln w="6350">
            <a:solidFill>
              <a:srgbClr val="2B385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86216" y="1719072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9E0B"/>
                </a:solidFill>
              </a:rPr>
              <a:t>Deployment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8622792" y="2267712"/>
            <a:ext cx="2606040" cy="384048"/>
          </a:xfrm>
          <a:prstGeom prst="roundRect">
            <a:avLst>
              <a:gd name="adj" fmla="val 14286"/>
            </a:avLst>
          </a:prstGeom>
          <a:solidFill>
            <a:srgbClr val="1F2A4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778240" y="237744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</a:rPr>
              <a:t>joblib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8622792" y="2862072"/>
            <a:ext cx="2606040" cy="384048"/>
          </a:xfrm>
          <a:prstGeom prst="roundRect">
            <a:avLst>
              <a:gd name="adj" fmla="val 14286"/>
            </a:avLst>
          </a:prstGeom>
          <a:solidFill>
            <a:srgbClr val="1F2A4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778240" y="297180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</a:rPr>
              <a:t>FastAPI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8622792" y="3456432"/>
            <a:ext cx="2606040" cy="384048"/>
          </a:xfrm>
          <a:prstGeom prst="roundRect">
            <a:avLst>
              <a:gd name="adj" fmla="val 14286"/>
            </a:avLst>
          </a:prstGeom>
          <a:solidFill>
            <a:srgbClr val="1F2A4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778240" y="356616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</a:rPr>
              <a:t>Uvicorn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8622792" y="4050792"/>
            <a:ext cx="2606040" cy="384048"/>
          </a:xfrm>
          <a:prstGeom prst="roundRect">
            <a:avLst>
              <a:gd name="adj" fmla="val 14286"/>
            </a:avLst>
          </a:prstGeom>
          <a:solidFill>
            <a:srgbClr val="1F2A4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778240" y="41605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</a:rPr>
              <a:t>Streamlit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841248" y="6053328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All dependencies are captured in requirements.txt for reproducible local and cloud deployment.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0896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cleaning &amp; EDA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Turning raw encounter data into a trustworthy modeling dataset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9509760" y="6528816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Diabetes Hospital Readmission Prediction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85800" y="1234440"/>
            <a:ext cx="5303520" cy="868680"/>
          </a:xfrm>
          <a:prstGeom prst="roundRect">
            <a:avLst>
              <a:gd name="adj" fmla="val 7368"/>
            </a:avLst>
          </a:prstGeom>
          <a:solidFill>
            <a:srgbClr val="172033"/>
          </a:solidFill>
          <a:ln w="6350">
            <a:solidFill>
              <a:srgbClr val="2B38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39903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8BDF8"/>
                </a:solidFill>
              </a:rPr>
              <a:t>Missing values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331720" y="1371600"/>
            <a:ext cx="3337560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CBD5E1"/>
                </a:solidFill>
              </a:rPr>
              <a:t>Converted “?” markers, handled lab-result missingness, dropped weight due to very high missing rate.</a:t>
            </a:r>
            <a:endParaRPr lang="en-US" sz="960" dirty="0"/>
          </a:p>
        </p:txBody>
      </p:sp>
      <p:sp>
        <p:nvSpPr>
          <p:cNvPr id="9" name="Shape 7"/>
          <p:cNvSpPr/>
          <p:nvPr/>
        </p:nvSpPr>
        <p:spPr>
          <a:xfrm>
            <a:off x="685800" y="2377440"/>
            <a:ext cx="5303520" cy="868680"/>
          </a:xfrm>
          <a:prstGeom prst="roundRect">
            <a:avLst>
              <a:gd name="adj" fmla="val 7368"/>
            </a:avLst>
          </a:prstGeom>
          <a:solidFill>
            <a:srgbClr val="172033"/>
          </a:solidFill>
          <a:ln w="6350">
            <a:solidFill>
              <a:srgbClr val="2B38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54203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8BDF8"/>
                </a:solidFill>
              </a:rPr>
              <a:t>Wrong / duplicate data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331720" y="2514600"/>
            <a:ext cx="3337560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CBD5E1"/>
                </a:solidFill>
              </a:rPr>
              <a:t>Checked duplicates and removed invalid / expired / hospice cases to match the prediction objective.</a:t>
            </a:r>
            <a:endParaRPr lang="en-US" sz="960" dirty="0"/>
          </a:p>
        </p:txBody>
      </p:sp>
      <p:sp>
        <p:nvSpPr>
          <p:cNvPr id="12" name="Shape 10"/>
          <p:cNvSpPr/>
          <p:nvPr/>
        </p:nvSpPr>
        <p:spPr>
          <a:xfrm>
            <a:off x="685800" y="3520440"/>
            <a:ext cx="5303520" cy="868680"/>
          </a:xfrm>
          <a:prstGeom prst="roundRect">
            <a:avLst>
              <a:gd name="adj" fmla="val 7368"/>
            </a:avLst>
          </a:prstGeom>
          <a:solidFill>
            <a:srgbClr val="172033"/>
          </a:solidFill>
          <a:ln w="6350">
            <a:solidFill>
              <a:srgbClr val="2B38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68503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8BDF8"/>
                </a:solidFill>
              </a:rPr>
              <a:t>Outliers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331720" y="3657600"/>
            <a:ext cx="3337560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CBD5E1"/>
                </a:solidFill>
              </a:rPr>
              <a:t>Used IQR and boxplots; retained clinically plausible extreme values instead of blind deletion.</a:t>
            </a:r>
            <a:endParaRPr lang="en-US" sz="960" dirty="0"/>
          </a:p>
        </p:txBody>
      </p:sp>
      <p:sp>
        <p:nvSpPr>
          <p:cNvPr id="15" name="Shape 13"/>
          <p:cNvSpPr/>
          <p:nvPr/>
        </p:nvSpPr>
        <p:spPr>
          <a:xfrm>
            <a:off x="685800" y="4663440"/>
            <a:ext cx="5303520" cy="868680"/>
          </a:xfrm>
          <a:prstGeom prst="roundRect">
            <a:avLst>
              <a:gd name="adj" fmla="val 7368"/>
            </a:avLst>
          </a:prstGeom>
          <a:solidFill>
            <a:srgbClr val="172033"/>
          </a:solidFill>
          <a:ln w="6350">
            <a:solidFill>
              <a:srgbClr val="2B385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82803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8BDF8"/>
                </a:solidFill>
              </a:rPr>
              <a:t>EDA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331720" y="4800600"/>
            <a:ext cx="3337560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CBD5E1"/>
                </a:solidFill>
              </a:rPr>
              <a:t>Summary statistics, histograms, boxplots, correlations and class-balance analysis.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0" y="1234440"/>
            <a:ext cx="4709160" cy="4297680"/>
          </a:xfrm>
          <a:prstGeom prst="roundRect">
            <a:avLst>
              <a:gd name="adj" fmla="val 1702"/>
            </a:avLst>
          </a:prstGeom>
          <a:solidFill>
            <a:srgbClr val="172033"/>
          </a:solidFill>
          <a:ln w="6350">
            <a:solidFill>
              <a:srgbClr val="2B38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0" y="155448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EDA outputs used in the report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903720" y="2084832"/>
            <a:ext cx="3886200" cy="1783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</a:rPr>
              <a:t>Numerical distributions and skewness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</a:rPr>
              <a:t>Feature correlation heatmap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</a:rPr>
              <a:t>Readmission class imbalance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</a:rPr>
              <a:t>Outlier visual checks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</a:rPr>
              <a:t>Target relationship with key utilization features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903720" y="4315968"/>
            <a:ext cx="1874520" cy="868680"/>
          </a:xfrm>
          <a:prstGeom prst="roundRect">
            <a:avLst>
              <a:gd name="adj" fmla="val 8421"/>
            </a:avLst>
          </a:prstGeom>
          <a:solidFill>
            <a:srgbClr val="172033"/>
          </a:solidFill>
          <a:ln w="6350">
            <a:solidFill>
              <a:srgbClr val="24324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03720" y="4315968"/>
            <a:ext cx="54864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68312" y="448970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≈11.4%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7068312" y="492861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</a:rPr>
              <a:t>Positive class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7068312" y="5138928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4A3B8"/>
                </a:solidFill>
              </a:rPr>
              <a:t>imbalanced data</a:t>
            </a:r>
            <a:endParaRPr lang="en-US" sz="720" dirty="0"/>
          </a:p>
        </p:txBody>
      </p:sp>
      <p:sp>
        <p:nvSpPr>
          <p:cNvPr id="26" name="Shape 24"/>
          <p:cNvSpPr/>
          <p:nvPr/>
        </p:nvSpPr>
        <p:spPr>
          <a:xfrm>
            <a:off x="9052560" y="4315968"/>
            <a:ext cx="1600200" cy="868680"/>
          </a:xfrm>
          <a:prstGeom prst="roundRect">
            <a:avLst>
              <a:gd name="adj" fmla="val 8421"/>
            </a:avLst>
          </a:prstGeom>
          <a:solidFill>
            <a:srgbClr val="172033"/>
          </a:solidFill>
          <a:ln w="6350">
            <a:solidFill>
              <a:srgbClr val="24324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052560" y="4315968"/>
            <a:ext cx="54864" cy="868680"/>
          </a:xfrm>
          <a:prstGeom prst="rect">
            <a:avLst/>
          </a:prstGeom>
          <a:solidFill>
            <a:srgbClr val="4ADE8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17152" y="448970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9217152" y="492861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</a:rPr>
              <a:t>Duplicates</a:t>
            </a:r>
            <a:endParaRPr lang="en-US" sz="880" dirty="0"/>
          </a:p>
        </p:txBody>
      </p:sp>
      <p:sp>
        <p:nvSpPr>
          <p:cNvPr id="30" name="Text 28"/>
          <p:cNvSpPr/>
          <p:nvPr/>
        </p:nvSpPr>
        <p:spPr>
          <a:xfrm>
            <a:off x="9217152" y="5138928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4A3B8"/>
                </a:solidFill>
              </a:rPr>
              <a:t>after checking</a:t>
            </a:r>
            <a:endParaRPr lang="en-US" sz="7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0896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Preprocessing &amp; split strategy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Designed to prevent leakage and support realistic evaluation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9509760" y="6528816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Diabetes Hospital Readmission Prediction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2212848" y="2185416"/>
            <a:ext cx="219456" cy="0"/>
          </a:xfrm>
          <a:prstGeom prst="line">
            <a:avLst/>
          </a:prstGeom>
          <a:noFill/>
          <a:ln w="1778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069080" y="2185416"/>
            <a:ext cx="219456" cy="0"/>
          </a:xfrm>
          <a:prstGeom prst="line">
            <a:avLst/>
          </a:prstGeom>
          <a:noFill/>
          <a:ln w="1778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925312" y="2185416"/>
            <a:ext cx="219456" cy="0"/>
          </a:xfrm>
          <a:prstGeom prst="line">
            <a:avLst/>
          </a:prstGeom>
          <a:noFill/>
          <a:ln w="1778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781544" y="2185416"/>
            <a:ext cx="219456" cy="0"/>
          </a:xfrm>
          <a:prstGeom prst="line">
            <a:avLst/>
          </a:prstGeom>
          <a:noFill/>
          <a:ln w="1778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9637776" y="2185416"/>
            <a:ext cx="219456" cy="0"/>
          </a:xfrm>
          <a:prstGeom prst="line">
            <a:avLst/>
          </a:prstGeom>
          <a:noFill/>
          <a:ln w="1778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94360" y="1828800"/>
            <a:ext cx="1600200" cy="713232"/>
          </a:xfrm>
          <a:prstGeom prst="roundRect">
            <a:avLst>
              <a:gd name="adj" fmla="val 8974"/>
            </a:avLst>
          </a:prstGeom>
          <a:solidFill>
            <a:srgbClr val="172033"/>
          </a:solidFill>
          <a:ln w="6350">
            <a:solidFill>
              <a:srgbClr val="2B38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197510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8FAFC"/>
                </a:solidFill>
              </a:rPr>
              <a:t>Raw data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85800" y="2231136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94A3B8"/>
                </a:solidFill>
              </a:rPr>
              <a:t>encounter records</a:t>
            </a:r>
            <a:endParaRPr lang="en-US" sz="760" dirty="0"/>
          </a:p>
        </p:txBody>
      </p:sp>
      <p:sp>
        <p:nvSpPr>
          <p:cNvPr id="14" name="Shape 12"/>
          <p:cNvSpPr/>
          <p:nvPr/>
        </p:nvSpPr>
        <p:spPr>
          <a:xfrm>
            <a:off x="2450592" y="1828800"/>
            <a:ext cx="1600200" cy="713232"/>
          </a:xfrm>
          <a:prstGeom prst="roundRect">
            <a:avLst>
              <a:gd name="adj" fmla="val 8974"/>
            </a:avLst>
          </a:prstGeom>
          <a:solidFill>
            <a:srgbClr val="172033"/>
          </a:solidFill>
          <a:ln w="6350">
            <a:solidFill>
              <a:srgbClr val="2B38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42032" y="197510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8FAFC"/>
                </a:solidFill>
              </a:rPr>
              <a:t>Cleaning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542032" y="2231136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94A3B8"/>
                </a:solidFill>
              </a:rPr>
              <a:t>missing / invalid values</a:t>
            </a:r>
            <a:endParaRPr lang="en-US" sz="760" dirty="0"/>
          </a:p>
        </p:txBody>
      </p:sp>
      <p:sp>
        <p:nvSpPr>
          <p:cNvPr id="17" name="Shape 15"/>
          <p:cNvSpPr/>
          <p:nvPr/>
        </p:nvSpPr>
        <p:spPr>
          <a:xfrm>
            <a:off x="4306824" y="1828800"/>
            <a:ext cx="1600200" cy="713232"/>
          </a:xfrm>
          <a:prstGeom prst="roundRect">
            <a:avLst>
              <a:gd name="adj" fmla="val 8974"/>
            </a:avLst>
          </a:prstGeom>
          <a:solidFill>
            <a:srgbClr val="172033"/>
          </a:solidFill>
          <a:ln w="6350">
            <a:solidFill>
              <a:srgbClr val="2B385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98264" y="197510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8FAFC"/>
                </a:solidFill>
              </a:rPr>
              <a:t>Encoding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398264" y="2231136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94A3B8"/>
                </a:solidFill>
              </a:rPr>
              <a:t>OneHotEncoder</a:t>
            </a:r>
            <a:endParaRPr lang="en-US" sz="760" dirty="0"/>
          </a:p>
        </p:txBody>
      </p:sp>
      <p:sp>
        <p:nvSpPr>
          <p:cNvPr id="20" name="Shape 18"/>
          <p:cNvSpPr/>
          <p:nvPr/>
        </p:nvSpPr>
        <p:spPr>
          <a:xfrm>
            <a:off x="6163056" y="1828800"/>
            <a:ext cx="1600200" cy="713232"/>
          </a:xfrm>
          <a:prstGeom prst="roundRect">
            <a:avLst>
              <a:gd name="adj" fmla="val 8974"/>
            </a:avLst>
          </a:prstGeom>
          <a:solidFill>
            <a:srgbClr val="172033"/>
          </a:solidFill>
          <a:ln w="6350">
            <a:solidFill>
              <a:srgbClr val="2B385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54496" y="197510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8FAFC"/>
                </a:solidFill>
              </a:rPr>
              <a:t>Scaling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254496" y="2231136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94A3B8"/>
                </a:solidFill>
              </a:rPr>
              <a:t>StandardScaler</a:t>
            </a:r>
            <a:endParaRPr lang="en-US" sz="760" dirty="0"/>
          </a:p>
        </p:txBody>
      </p:sp>
      <p:sp>
        <p:nvSpPr>
          <p:cNvPr id="23" name="Shape 21"/>
          <p:cNvSpPr/>
          <p:nvPr/>
        </p:nvSpPr>
        <p:spPr>
          <a:xfrm>
            <a:off x="8019288" y="1828800"/>
            <a:ext cx="1600200" cy="713232"/>
          </a:xfrm>
          <a:prstGeom prst="roundRect">
            <a:avLst>
              <a:gd name="adj" fmla="val 8974"/>
            </a:avLst>
          </a:prstGeom>
          <a:solidFill>
            <a:srgbClr val="172033"/>
          </a:solidFill>
          <a:ln w="6350">
            <a:solidFill>
              <a:srgbClr val="2B385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10728" y="197510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8FAFC"/>
                </a:solidFill>
              </a:rPr>
              <a:t>Group split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110728" y="2231136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94A3B8"/>
                </a:solidFill>
              </a:rPr>
              <a:t>patient-level split</a:t>
            </a:r>
            <a:endParaRPr lang="en-US" sz="760" dirty="0"/>
          </a:p>
        </p:txBody>
      </p:sp>
      <p:sp>
        <p:nvSpPr>
          <p:cNvPr id="26" name="Shape 24"/>
          <p:cNvSpPr/>
          <p:nvPr/>
        </p:nvSpPr>
        <p:spPr>
          <a:xfrm>
            <a:off x="9875520" y="1828800"/>
            <a:ext cx="1600200" cy="713232"/>
          </a:xfrm>
          <a:prstGeom prst="roundRect">
            <a:avLst>
              <a:gd name="adj" fmla="val 8974"/>
            </a:avLst>
          </a:prstGeom>
          <a:solidFill>
            <a:srgbClr val="172033"/>
          </a:solidFill>
          <a:ln w="6350">
            <a:solidFill>
              <a:srgbClr val="2B385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966960" y="197510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8FAFC"/>
                </a:solidFill>
              </a:rPr>
              <a:t>Models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966960" y="2231136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94A3B8"/>
                </a:solidFill>
              </a:rPr>
              <a:t>train / validation / test</a:t>
            </a:r>
            <a:endParaRPr lang="en-US" sz="760" dirty="0"/>
          </a:p>
        </p:txBody>
      </p:sp>
      <p:sp>
        <p:nvSpPr>
          <p:cNvPr id="29" name="Shape 27"/>
          <p:cNvSpPr/>
          <p:nvPr/>
        </p:nvSpPr>
        <p:spPr>
          <a:xfrm>
            <a:off x="685800" y="3337560"/>
            <a:ext cx="5166360" cy="1874520"/>
          </a:xfrm>
          <a:prstGeom prst="roundRect">
            <a:avLst>
              <a:gd name="adj" fmla="val 3902"/>
            </a:avLst>
          </a:prstGeom>
          <a:solidFill>
            <a:srgbClr val="172033"/>
          </a:solidFill>
          <a:ln w="6350">
            <a:solidFill>
              <a:srgbClr val="2B385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361188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Why patient-level split?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14400" y="4005072"/>
            <a:ext cx="4343400" cy="7132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Multiple encounters can belong to the same patient. Splitting by patient ID prevents the model from seeing a patient during training and validation/test at the same time.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446520" y="3337560"/>
            <a:ext cx="4663440" cy="1874520"/>
          </a:xfrm>
          <a:prstGeom prst="roundRect">
            <a:avLst>
              <a:gd name="adj" fmla="val 3902"/>
            </a:avLst>
          </a:prstGeom>
          <a:solidFill>
            <a:srgbClr val="172033"/>
          </a:solidFill>
          <a:ln w="6350">
            <a:solidFill>
              <a:srgbClr val="2B385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75120" y="361188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Validation first, Test last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675120" y="4005072"/>
            <a:ext cx="3977640" cy="7132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Thresholds, hyperparameters and ensemble weights were selected on validation data only. The untouched test set was used once for the final estimate.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0896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Feature engineering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New features were created to strengthen the signal for readmission risk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9509760" y="6528816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Diabetes Hospital Readmission Prediction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85800" y="1280160"/>
            <a:ext cx="5166360" cy="4389120"/>
          </a:xfrm>
          <a:prstGeom prst="roundRect">
            <a:avLst>
              <a:gd name="adj" fmla="val 1667"/>
            </a:avLst>
          </a:prstGeom>
          <a:solidFill>
            <a:srgbClr val="172033"/>
          </a:solidFill>
          <a:ln w="6350">
            <a:solidFill>
              <a:srgbClr val="2B38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002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New engineered features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2084832"/>
            <a:ext cx="4480560" cy="2194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</a:rPr>
              <a:t>total_previous_visits = outpatient + emergency + inpatient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</a:rPr>
              <a:t>hospital_utilization = emergency + inpatient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</a:rPr>
              <a:t>total_clinical_activity = labs + procedures + medications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</a:rPr>
              <a:t>medications / labs / procedures per hospital day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</a:rPr>
              <a:t>diagnosis_burden = diagnoses per hospital day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</a:rPr>
              <a:t>history flags for previous inpatient, emergency, outpatient visits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0" y="1280160"/>
            <a:ext cx="4800600" cy="4389120"/>
          </a:xfrm>
          <a:prstGeom prst="roundRect">
            <a:avLst>
              <a:gd name="adj" fmla="val 1667"/>
            </a:avLst>
          </a:prstGeom>
          <a:solidFill>
            <a:srgbClr val="172033"/>
          </a:solidFill>
          <a:ln w="6350">
            <a:solidFill>
              <a:srgbClr val="2B38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0" y="16002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Feature importance finding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656832" y="2148840"/>
            <a:ext cx="2057400" cy="914400"/>
          </a:xfrm>
          <a:prstGeom prst="roundRect">
            <a:avLst>
              <a:gd name="adj" fmla="val 8000"/>
            </a:avLst>
          </a:prstGeom>
          <a:solidFill>
            <a:srgbClr val="172033"/>
          </a:solidFill>
          <a:ln w="6350">
            <a:solidFill>
              <a:srgbClr val="24324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56832" y="2148840"/>
            <a:ext cx="54864" cy="914400"/>
          </a:xfrm>
          <a:prstGeom prst="rect">
            <a:avLst/>
          </a:prstGeom>
          <a:solidFill>
            <a:srgbClr val="4ADE8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21424" y="232257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number_inpatient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821424" y="276148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</a:rPr>
              <a:t>Top feature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6821424" y="2971800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4A3B8"/>
                </a:solidFill>
              </a:rPr>
              <a:t>previous inpatient history</a:t>
            </a:r>
            <a:endParaRPr lang="en-US" sz="720" dirty="0"/>
          </a:p>
        </p:txBody>
      </p:sp>
      <p:sp>
        <p:nvSpPr>
          <p:cNvPr id="16" name="Shape 14"/>
          <p:cNvSpPr/>
          <p:nvPr/>
        </p:nvSpPr>
        <p:spPr>
          <a:xfrm>
            <a:off x="8915400" y="2148840"/>
            <a:ext cx="2057400" cy="914400"/>
          </a:xfrm>
          <a:prstGeom prst="roundRect">
            <a:avLst>
              <a:gd name="adj" fmla="val 8000"/>
            </a:avLst>
          </a:prstGeom>
          <a:solidFill>
            <a:srgbClr val="172033"/>
          </a:solidFill>
          <a:ln w="6350">
            <a:solidFill>
              <a:srgbClr val="24324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15400" y="2148840"/>
            <a:ext cx="54864" cy="914400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79992" y="232257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hospital_utilization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079992" y="276148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</a:rPr>
              <a:t>Engineered feature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9079992" y="2971800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4A3B8"/>
                </a:solidFill>
              </a:rPr>
              <a:t>entered top features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6693408" y="3456432"/>
            <a:ext cx="3977640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The engineered utilization features appeared among the most important variables, confirming that the feature engineering was meaningful rather than random.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693408" y="4572000"/>
            <a:ext cx="2743200" cy="329184"/>
          </a:xfrm>
          <a:prstGeom prst="roundRect">
            <a:avLst>
              <a:gd name="adj" fmla="val 22222"/>
            </a:avLst>
          </a:prstGeom>
          <a:solidFill>
            <a:srgbClr val="A78BF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0" y="4645152"/>
            <a:ext cx="2596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020"/>
                </a:solidFill>
              </a:rPr>
              <a:t>304 processed features after encoding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0896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Baseline modeling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 simple baseline was established before advanced optimization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9509760" y="6528816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Diabetes Hospital Readmission Prediction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85800" y="1143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Three core algorithms were trained first, then advanced models were compared against this baseline.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1828800"/>
            <a:ext cx="3063240" cy="2286000"/>
          </a:xfrm>
          <a:prstGeom prst="roundRect">
            <a:avLst>
              <a:gd name="adj" fmla="val 3200"/>
            </a:avLst>
          </a:prstGeom>
          <a:solidFill>
            <a:srgbClr val="172033"/>
          </a:solidFill>
          <a:ln w="6350">
            <a:solidFill>
              <a:srgbClr val="2B38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148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38BDF8"/>
                </a:solidFill>
              </a:rPr>
              <a:t>Logistic Regression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51560" y="2761488"/>
            <a:ext cx="256032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Interpretable linear baseline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0" y="1828800"/>
            <a:ext cx="3063240" cy="2286000"/>
          </a:xfrm>
          <a:prstGeom prst="roundRect">
            <a:avLst>
              <a:gd name="adj" fmla="val 3200"/>
            </a:avLst>
          </a:prstGeom>
          <a:solidFill>
            <a:srgbClr val="172033"/>
          </a:solidFill>
          <a:ln w="6350">
            <a:solidFill>
              <a:srgbClr val="2B38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2148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4ADE80"/>
                </a:solidFill>
              </a:rPr>
              <a:t>Random Forest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800600" y="2761488"/>
            <a:ext cx="256032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Tree ensemble baseline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321040" y="1828800"/>
            <a:ext cx="3063240" cy="2286000"/>
          </a:xfrm>
          <a:prstGeom prst="roundRect">
            <a:avLst>
              <a:gd name="adj" fmla="val 3200"/>
            </a:avLst>
          </a:prstGeom>
          <a:solidFill>
            <a:srgbClr val="172033"/>
          </a:solidFill>
          <a:ln w="6350">
            <a:solidFill>
              <a:srgbClr val="2B38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49640" y="2148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59E0B"/>
                </a:solidFill>
              </a:rPr>
              <a:t>XGBoost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549640" y="2761488"/>
            <a:ext cx="256032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Strong boosting baseline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549640" y="3401568"/>
            <a:ext cx="2331720" cy="347472"/>
          </a:xfrm>
          <a:prstGeom prst="roundRect">
            <a:avLst>
              <a:gd name="adj" fmla="val 13158"/>
            </a:avLst>
          </a:prstGeom>
          <a:solidFill>
            <a:srgbClr val="1F2A4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59368" y="3502152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F8FAFC"/>
                </a:solidFill>
              </a:rPr>
              <a:t>Best baseline candidate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822960" y="4892040"/>
            <a:ext cx="2377440" cy="960120"/>
          </a:xfrm>
          <a:prstGeom prst="roundRect">
            <a:avLst>
              <a:gd name="adj" fmla="val 7619"/>
            </a:avLst>
          </a:prstGeom>
          <a:solidFill>
            <a:srgbClr val="172033"/>
          </a:solidFill>
          <a:ln w="6350">
            <a:solidFill>
              <a:srgbClr val="24324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4892040"/>
            <a:ext cx="54864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7552" y="5065776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≈0.287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987552" y="5504688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</a:rPr>
              <a:t>Baseline XGBoost F1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3520440" y="4892040"/>
            <a:ext cx="2377440" cy="960120"/>
          </a:xfrm>
          <a:prstGeom prst="roundRect">
            <a:avLst>
              <a:gd name="adj" fmla="val 7619"/>
            </a:avLst>
          </a:prstGeom>
          <a:solidFill>
            <a:srgbClr val="172033"/>
          </a:solidFill>
          <a:ln w="6350">
            <a:solidFill>
              <a:srgbClr val="24324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20440" y="4892040"/>
            <a:ext cx="54864" cy="960120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85032" y="5065776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≈0.238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3685032" y="5504688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</a:rPr>
              <a:t>Baseline PR-AUC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6400800" y="4919472"/>
            <a:ext cx="4480560" cy="6858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Baseline performance showed moderate ranking ability but weak minority-class precision/recall trade-off, motivating imbalance handling and threshold optimization.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0896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Imbalance handling experiments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Multiple strategies were tested because the positive class is rare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9509760" y="6528816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Diabetes Hospital Readmission Prediction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85800" y="1325880"/>
            <a:ext cx="4937760" cy="1371600"/>
          </a:xfrm>
          <a:prstGeom prst="roundRect">
            <a:avLst>
              <a:gd name="adj" fmla="val 5333"/>
            </a:avLst>
          </a:prstGeom>
          <a:solidFill>
            <a:srgbClr val="172033"/>
          </a:solidFill>
          <a:ln w="6350">
            <a:solidFill>
              <a:srgbClr val="2B38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527048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4ADE80"/>
                </a:solidFill>
              </a:rPr>
              <a:t>Class weighting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914400" y="1938528"/>
            <a:ext cx="434340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Weighted XGBoost and balanced LightGBM increased minority-class sensitivity.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6355080" y="1325880"/>
            <a:ext cx="4937760" cy="1371600"/>
          </a:xfrm>
          <a:prstGeom prst="roundRect">
            <a:avLst>
              <a:gd name="adj" fmla="val 5333"/>
            </a:avLst>
          </a:prstGeom>
          <a:solidFill>
            <a:srgbClr val="172033"/>
          </a:solidFill>
          <a:ln w="6350">
            <a:solidFill>
              <a:srgbClr val="2B38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1527048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59E0B"/>
                </a:solidFill>
              </a:rPr>
              <a:t>SMOTE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583680" y="1938528"/>
            <a:ext cx="434340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Full SMOTE balanced the training data 1:1, but did not improve overall PR-AUC.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685800" y="3657600"/>
            <a:ext cx="4937760" cy="1371600"/>
          </a:xfrm>
          <a:prstGeom prst="roundRect">
            <a:avLst>
              <a:gd name="adj" fmla="val 5333"/>
            </a:avLst>
          </a:prstGeom>
          <a:solidFill>
            <a:srgbClr val="172033"/>
          </a:solidFill>
          <a:ln w="6350">
            <a:solidFill>
              <a:srgbClr val="2B38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858768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A78BFA"/>
                </a:solidFill>
              </a:rPr>
              <a:t>Partial SMOTE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914400" y="4270248"/>
            <a:ext cx="434340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A less aggressive 0.5 ratio was tested, but still underperformed.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6355080" y="3657600"/>
            <a:ext cx="4937760" cy="1371600"/>
          </a:xfrm>
          <a:prstGeom prst="roundRect">
            <a:avLst>
              <a:gd name="adj" fmla="val 5333"/>
            </a:avLst>
          </a:prstGeom>
          <a:solidFill>
            <a:srgbClr val="172033"/>
          </a:solidFill>
          <a:ln w="6350">
            <a:solidFill>
              <a:srgbClr val="2B385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3858768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8BDF8"/>
                </a:solidFill>
              </a:rPr>
              <a:t>Threshold tuning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583680" y="4270248"/>
            <a:ext cx="434340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Validation-based thresholds were essential; 0.50 was too conservative for many models.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868680" y="5833872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8FAFC"/>
                </a:solidFill>
              </a:rPr>
              <a:t>Main lesson: rebalancing alone did not solve the problem. The final gains came from combining tuned models and probabilities.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0896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optimization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Searching beyond default settings and default thresholds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9509760" y="6528816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Diabetes Hospital Readmission Prediction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85800" y="1234440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8BDF8"/>
                </a:solidFill>
              </a:rPr>
              <a:t>WHAT WAS OPTIMIZED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22960" y="1600200"/>
            <a:ext cx="5394960" cy="1920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40" dirty="0">
                <a:solidFill>
                  <a:srgbClr val="CBD5E1"/>
                </a:solidFill>
              </a:rPr>
              <a:t>XGBoost RandomizedSearchCV with StratifiedGroupKFold</a:t>
            </a:r>
            <a:endParaRPr lang="en-US" sz="1240" dirty="0"/>
          </a:p>
          <a:p>
            <a:pPr marL="152400" indent="-152400">
              <a:buSzPct val="100000"/>
              <a:buChar char="•"/>
            </a:pPr>
            <a:r>
              <a:rPr lang="en-US" sz="1240" dirty="0">
                <a:solidFill>
                  <a:srgbClr val="CBD5E1"/>
                </a:solidFill>
              </a:rPr>
              <a:t>LightGBM RandomizedSearchCV with StratifiedGroupKFold</a:t>
            </a:r>
            <a:endParaRPr lang="en-US" sz="1240" dirty="0"/>
          </a:p>
          <a:p>
            <a:pPr marL="152400" indent="-152400">
              <a:buSzPct val="100000"/>
              <a:buChar char="•"/>
            </a:pPr>
            <a:r>
              <a:rPr lang="en-US" sz="1240" dirty="0">
                <a:solidFill>
                  <a:srgbClr val="CBD5E1"/>
                </a:solidFill>
              </a:rPr>
              <a:t>Validation threshold search for F1 / recall-precision trade-off</a:t>
            </a:r>
            <a:endParaRPr lang="en-US" sz="1240" dirty="0"/>
          </a:p>
          <a:p>
            <a:pPr marL="152400" indent="-152400">
              <a:buSzPct val="100000"/>
              <a:buChar char="•"/>
            </a:pPr>
            <a:r>
              <a:rPr lang="en-US" sz="1240" dirty="0">
                <a:solidFill>
                  <a:srgbClr val="CBD5E1"/>
                </a:solidFill>
              </a:rPr>
              <a:t>Ensemble probability weights: 60% LightGBM + 40% XGBoost</a:t>
            </a:r>
            <a:endParaRPr lang="en-US" sz="124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6537960" y="1325880"/>
          <a:ext cx="457200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822960" y="4069080"/>
            <a:ext cx="4937760" cy="1143000"/>
          </a:xfrm>
          <a:prstGeom prst="roundRect">
            <a:avLst>
              <a:gd name="adj" fmla="val 6400"/>
            </a:avLst>
          </a:prstGeom>
          <a:solidFill>
            <a:srgbClr val="172033"/>
          </a:solidFill>
          <a:ln w="6350">
            <a:solidFill>
              <a:srgbClr val="2B385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51560" y="4352544"/>
            <a:ext cx="2651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Threshold selection rule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51560" y="469087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dirty="0">
                <a:solidFill>
                  <a:srgbClr val="CBD5E1"/>
                </a:solidFill>
              </a:rPr>
              <a:t>All thresholds were chosen on validation only. The test set was used once for the final unbiased evaluation.</a:t>
            </a:r>
            <a:endParaRPr lang="en-US" sz="107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0896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model architecture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Weighted probability ensemble selected from validation performance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9509760" y="6528816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Diabetes Hospital Readmission Prediction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2743200" y="2286000"/>
            <a:ext cx="1280160" cy="-502920"/>
          </a:xfrm>
          <a:prstGeom prst="line">
            <a:avLst/>
          </a:prstGeom>
          <a:noFill/>
          <a:ln w="15240">
            <a:solidFill>
              <a:srgbClr val="38BDF8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743200" y="2286000"/>
            <a:ext cx="1280160" cy="960120"/>
          </a:xfrm>
          <a:prstGeom prst="line">
            <a:avLst/>
          </a:prstGeom>
          <a:noFill/>
          <a:ln w="15240">
            <a:solidFill>
              <a:srgbClr val="38BDF8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583680" y="1783080"/>
            <a:ext cx="1234440" cy="502920"/>
          </a:xfrm>
          <a:prstGeom prst="line">
            <a:avLst/>
          </a:prstGeom>
          <a:noFill/>
          <a:ln w="15240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583680" y="3246120"/>
            <a:ext cx="1234440" cy="-960120"/>
          </a:xfrm>
          <a:prstGeom prst="line">
            <a:avLst/>
          </a:prstGeom>
          <a:noFill/>
          <a:ln w="15240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" y="1920240"/>
            <a:ext cx="1965960" cy="749808"/>
          </a:xfrm>
          <a:prstGeom prst="roundRect">
            <a:avLst>
              <a:gd name="adj" fmla="val 9756"/>
            </a:avLst>
          </a:prstGeom>
          <a:solidFill>
            <a:srgbClr val="172033"/>
          </a:solidFill>
          <a:ln w="6350">
            <a:solidFill>
              <a:srgbClr val="2B38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" y="206654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Patient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Encounter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60520" y="1261872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172033"/>
          </a:solidFill>
          <a:ln w="6350">
            <a:solidFill>
              <a:srgbClr val="2B38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70832" y="148132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4ADE80"/>
                </a:solidFill>
              </a:rPr>
              <a:t>Tuned LightGBM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b="1" dirty="0">
                <a:solidFill>
                  <a:srgbClr val="4ADE80"/>
                </a:solidFill>
              </a:rPr>
              <a:t>Original preprocessing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4160520" y="3127248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172033"/>
          </a:solidFill>
          <a:ln w="6350">
            <a:solidFill>
              <a:srgbClr val="2B38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70832" y="333756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59E0B"/>
                </a:solidFill>
              </a:rPr>
              <a:t>XGBoost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b="1" dirty="0">
                <a:solidFill>
                  <a:srgbClr val="F59E0B"/>
                </a:solidFill>
              </a:rPr>
              <a:t>Engineered features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7909560" y="2011680"/>
            <a:ext cx="2286000" cy="804672"/>
          </a:xfrm>
          <a:prstGeom prst="roundRect">
            <a:avLst>
              <a:gd name="adj" fmla="val 9091"/>
            </a:avLst>
          </a:prstGeom>
          <a:solidFill>
            <a:srgbClr val="172033"/>
          </a:solidFill>
          <a:ln w="6350">
            <a:solidFill>
              <a:srgbClr val="2B385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19872" y="2203704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Weighted Average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0.60 + 0.40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0241280" y="2414016"/>
            <a:ext cx="777240" cy="0"/>
          </a:xfrm>
          <a:prstGeom prst="line">
            <a:avLst/>
          </a:prstGeom>
          <a:noFill/>
          <a:ln w="15240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1064240" y="2057400"/>
            <a:ext cx="822960" cy="713232"/>
          </a:xfrm>
          <a:prstGeom prst="roundRect">
            <a:avLst>
              <a:gd name="adj" fmla="val 10256"/>
            </a:avLst>
          </a:prstGeom>
          <a:solidFill>
            <a:srgbClr val="4ADE8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155680" y="224028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020"/>
                </a:solidFill>
              </a:rPr>
              <a:t>Risk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B1020"/>
                </a:solidFill>
              </a:rPr>
              <a:t>Class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22960" y="475488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172033"/>
          </a:solidFill>
          <a:ln w="6350">
            <a:solidFill>
              <a:srgbClr val="24324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" y="4754880"/>
            <a:ext cx="54864" cy="914400"/>
          </a:xfrm>
          <a:prstGeom prst="rect">
            <a:avLst/>
          </a:prstGeom>
          <a:solidFill>
            <a:srgbClr val="4ADE8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7552" y="4928616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0.13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987552" y="5367528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</a:rPr>
              <a:t>Final threshold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3017520" y="475488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172033"/>
          </a:solidFill>
          <a:ln w="6350">
            <a:solidFill>
              <a:srgbClr val="24324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017520" y="4754880"/>
            <a:ext cx="54864" cy="914400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82112" y="4928616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0.3001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3182112" y="5367528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</a:rPr>
              <a:t>Validation F1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5212080" y="475488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172033"/>
          </a:solidFill>
          <a:ln w="6350">
            <a:solidFill>
              <a:srgbClr val="24324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212080" y="4754880"/>
            <a:ext cx="54864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76672" y="4928616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0.2369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5376672" y="5367528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</a:rPr>
              <a:t>Validation PR-AUC</a:t>
            </a:r>
            <a:endParaRPr lang="en-US" sz="880" dirty="0"/>
          </a:p>
        </p:txBody>
      </p:sp>
      <p:sp>
        <p:nvSpPr>
          <p:cNvPr id="33" name="Text 31"/>
          <p:cNvSpPr/>
          <p:nvPr/>
        </p:nvSpPr>
        <p:spPr>
          <a:xfrm>
            <a:off x="7452360" y="4846320"/>
            <a:ext cx="397764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CBD5E1"/>
                </a:solidFill>
              </a:rPr>
              <a:t>Selected because it delivered the best validation F1 and strongest overall ranking performance among tested candidates.</a:t>
            </a:r>
            <a:endParaRPr lang="en-US" sz="113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0896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Validation model comparison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Final candidate selected before the test set was touched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9509760" y="6528816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Diabetes Hospital Readmission Prediction</a:t>
            </a:r>
            <a:endParaRPr lang="en-US" sz="7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17320"/>
          <a:ext cx="10927080" cy="2423160"/>
        </p:xfrm>
        <a:graphic>
          <a:graphicData uri="http://schemas.openxmlformats.org/drawingml/2006/table">
            <a:tbl>
              <a:tblPr/>
              <a:tblGrid>
                <a:gridCol w="2926080"/>
                <a:gridCol w="1371600"/>
                <a:gridCol w="1371600"/>
                <a:gridCol w="1371600"/>
                <a:gridCol w="1645920"/>
                <a:gridCol w="164592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Model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B3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Precision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B3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Recall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B3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F1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B3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ROC-AUC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B3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PR-AUC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B3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Weighted XGBoost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B3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0.2131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B3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0.4806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B3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0.2953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B3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0.6785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B3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0.2293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B3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Tuned LightGBM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B3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0.2097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B3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0.5144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B3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0.2979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B3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0.6803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B3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0.2350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B3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50/50 Ensemble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B3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0.2106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B3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0.5183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B3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0.2996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B3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0.6815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B3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0.2365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B3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60/40 Weighted Ensemble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B3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0.2111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B3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0.5189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B3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0.3001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B3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0.6815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B3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0.2369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2B3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49224" y="3054096"/>
            <a:ext cx="10908792" cy="411480"/>
          </a:xfrm>
          <a:prstGeom prst="roundRect">
            <a:avLst>
              <a:gd name="adj" fmla="val 8889"/>
            </a:avLst>
          </a:prstGeom>
          <a:solidFill>
            <a:srgbClr val="4ADE80">
              <a:alpha val="1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05840" y="4617720"/>
            <a:ext cx="2057400" cy="960120"/>
          </a:xfrm>
          <a:prstGeom prst="roundRect">
            <a:avLst>
              <a:gd name="adj" fmla="val 7619"/>
            </a:avLst>
          </a:prstGeom>
          <a:solidFill>
            <a:srgbClr val="172033"/>
          </a:solidFill>
          <a:ln w="6350">
            <a:solidFill>
              <a:srgbClr val="24324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05840" y="4617720"/>
            <a:ext cx="54864" cy="960120"/>
          </a:xfrm>
          <a:prstGeom prst="rect">
            <a:avLst/>
          </a:prstGeom>
          <a:solidFill>
            <a:srgbClr val="4ADE8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70432" y="479145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0.3001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1170432" y="523036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</a:rPr>
              <a:t>Best validation F1</a:t>
            </a:r>
            <a:endParaRPr lang="en-US" sz="880" dirty="0"/>
          </a:p>
        </p:txBody>
      </p:sp>
      <p:sp>
        <p:nvSpPr>
          <p:cNvPr id="12" name="Shape 9"/>
          <p:cNvSpPr/>
          <p:nvPr/>
        </p:nvSpPr>
        <p:spPr>
          <a:xfrm>
            <a:off x="3429000" y="4617720"/>
            <a:ext cx="2148840" cy="960120"/>
          </a:xfrm>
          <a:prstGeom prst="roundRect">
            <a:avLst>
              <a:gd name="adj" fmla="val 7619"/>
            </a:avLst>
          </a:prstGeom>
          <a:solidFill>
            <a:srgbClr val="172033"/>
          </a:solidFill>
          <a:ln w="6350">
            <a:solidFill>
              <a:srgbClr val="24324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429000" y="4617720"/>
            <a:ext cx="54864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593592" y="479145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0.2369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3593592" y="52303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</a:rPr>
              <a:t>Best validation PR-AUC</a:t>
            </a:r>
            <a:endParaRPr lang="en-US" sz="880" dirty="0"/>
          </a:p>
        </p:txBody>
      </p:sp>
      <p:sp>
        <p:nvSpPr>
          <p:cNvPr id="16" name="Text 13"/>
          <p:cNvSpPr/>
          <p:nvPr/>
        </p:nvSpPr>
        <p:spPr>
          <a:xfrm>
            <a:off x="6080760" y="4754880"/>
            <a:ext cx="493776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The weighted ensemble was selected because it improved F1 slightly while also maintaining the best PR-AUC among validation experiments.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0896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test evaluation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Untouched test set used once after model selection was complete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9509760" y="6528816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Diabetes Hospital Readmission Prediction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594360" y="12801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172033"/>
          </a:solidFill>
          <a:ln w="6350">
            <a:solidFill>
              <a:srgbClr val="24324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280160"/>
            <a:ext cx="54864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45389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0.1968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58952" y="189280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</a:rPr>
              <a:t>Precision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2697480" y="12801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172033"/>
          </a:solidFill>
          <a:ln w="6350">
            <a:solidFill>
              <a:srgbClr val="24324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97480" y="1280160"/>
            <a:ext cx="54864" cy="914400"/>
          </a:xfrm>
          <a:prstGeom prst="rect">
            <a:avLst/>
          </a:prstGeom>
          <a:solidFill>
            <a:srgbClr val="4ADE8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62072" y="145389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0.4986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862072" y="189280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</a:rPr>
              <a:t>Recall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4800600" y="12801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172033"/>
          </a:solidFill>
          <a:ln w="6350">
            <a:solidFill>
              <a:srgbClr val="24324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00600" y="1280160"/>
            <a:ext cx="54864" cy="914400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65192" y="145389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0.2822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965192" y="189280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</a:rPr>
              <a:t>F1-score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6903720" y="12801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172033"/>
          </a:solidFill>
          <a:ln w="6350">
            <a:solidFill>
              <a:srgbClr val="24324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03720" y="1280160"/>
            <a:ext cx="54864" cy="914400"/>
          </a:xfrm>
          <a:prstGeom prst="rect">
            <a:avLst/>
          </a:prstGeom>
          <a:solidFill>
            <a:srgbClr val="A78BF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68312" y="145389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0.6768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068312" y="189280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</a:rPr>
              <a:t>ROC-AUC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9006840" y="12801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172033"/>
          </a:solidFill>
          <a:ln w="6350">
            <a:solidFill>
              <a:srgbClr val="24324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006840" y="1280160"/>
            <a:ext cx="54864" cy="914400"/>
          </a:xfrm>
          <a:prstGeom prst="rect">
            <a:avLst/>
          </a:prstGeom>
          <a:solidFill>
            <a:srgbClr val="22D3E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71432" y="145389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0.2390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9171432" y="189280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</a:rPr>
              <a:t>PR-AUC</a:t>
            </a:r>
            <a:endParaRPr lang="en-US" sz="880" dirty="0"/>
          </a:p>
        </p:txBody>
      </p:sp>
      <p:graphicFrame>
        <p:nvGraphicFramePr>
          <p:cNvPr id="26" name="Chart 0" descr=""/>
          <p:cNvGraphicFramePr/>
          <p:nvPr/>
        </p:nvGraphicFramePr>
        <p:xfrm>
          <a:off x="731520" y="2926080"/>
          <a:ext cx="512064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7" name="Shape 24"/>
          <p:cNvSpPr/>
          <p:nvPr/>
        </p:nvSpPr>
        <p:spPr>
          <a:xfrm>
            <a:off x="6537960" y="2971800"/>
            <a:ext cx="4480560" cy="2148840"/>
          </a:xfrm>
          <a:prstGeom prst="roundRect">
            <a:avLst>
              <a:gd name="adj" fmla="val 3404"/>
            </a:avLst>
          </a:prstGeom>
          <a:solidFill>
            <a:srgbClr val="172033"/>
          </a:solidFill>
          <a:ln w="6350">
            <a:solidFill>
              <a:srgbClr val="2B3854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812280" y="3246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Interpretation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6812280" y="3685032"/>
            <a:ext cx="3840480" cy="7132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CBD5E1"/>
                </a:solidFill>
              </a:rPr>
              <a:t>The model detects almost half of actual early readmissions. Precision is lower because the validation-selected threshold prioritizes catching more high-risk patients, creating more false-positive alerts.</a:t>
            </a:r>
            <a:endParaRPr lang="en-US" sz="1140" dirty="0"/>
          </a:p>
        </p:txBody>
      </p:sp>
      <p:sp>
        <p:nvSpPr>
          <p:cNvPr id="30" name="Shape 27"/>
          <p:cNvSpPr/>
          <p:nvPr/>
        </p:nvSpPr>
        <p:spPr>
          <a:xfrm>
            <a:off x="6812280" y="4617720"/>
            <a:ext cx="2240280" cy="329184"/>
          </a:xfrm>
          <a:prstGeom prst="roundRect">
            <a:avLst>
              <a:gd name="adj" fmla="val 22222"/>
            </a:avLst>
          </a:prstGeom>
          <a:solidFill>
            <a:srgbClr val="4ADE8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885432" y="4690872"/>
            <a:ext cx="2093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020"/>
                </a:solidFill>
              </a:rPr>
              <a:t>Test evaluation remained stable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0896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Confusion matrix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Detailed error analysis for the final model on the test set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9509760" y="6528816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Diabetes Hospital Readmission Prediction</a:t>
            </a:r>
            <a:endParaRPr lang="en-US" sz="750" dirty="0"/>
          </a:p>
        </p:txBody>
      </p:sp>
      <p:pic>
        <p:nvPicPr>
          <p:cNvPr id="6" name="Image 0" descr="/mnt/data/image(20260924-225937).png">    </p:cNvPr>
          <p:cNvPicPr>
            <a:picLocks noChangeAspect="1"/>
          </p:cNvPicPr>
          <p:nvPr/>
        </p:nvPicPr>
        <p:blipFill>
          <a:blip r:embed="rId1"/>
          <a:srcRect l="22000" r="34866" t="12000" b="13000"/>
          <a:stretch/>
        </p:blipFill>
        <p:spPr>
          <a:xfrm>
            <a:off x="685800" y="1143000"/>
            <a:ext cx="5394960" cy="4983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92240" y="1325880"/>
            <a:ext cx="2057400" cy="960120"/>
          </a:xfrm>
          <a:prstGeom prst="roundRect">
            <a:avLst>
              <a:gd name="adj" fmla="val 7619"/>
            </a:avLst>
          </a:prstGeom>
          <a:solidFill>
            <a:srgbClr val="172033"/>
          </a:solidFill>
          <a:ln w="6350">
            <a:solidFill>
              <a:srgbClr val="24324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92240" y="1325880"/>
            <a:ext cx="54864" cy="960120"/>
          </a:xfrm>
          <a:prstGeom prst="rect">
            <a:avLst/>
          </a:prstGeom>
          <a:solidFill>
            <a:srgbClr val="4ADE8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656832" y="149961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1,105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6656832" y="193852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</a:rPr>
              <a:t>True positives</a:t>
            </a:r>
            <a:endParaRPr lang="en-US" sz="880" dirty="0"/>
          </a:p>
        </p:txBody>
      </p:sp>
      <p:sp>
        <p:nvSpPr>
          <p:cNvPr id="11" name="Text 8"/>
          <p:cNvSpPr/>
          <p:nvPr/>
        </p:nvSpPr>
        <p:spPr>
          <a:xfrm>
            <a:off x="6656832" y="2148840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4A3B8"/>
                </a:solidFill>
              </a:rPr>
              <a:t>detected readmissions</a:t>
            </a:r>
            <a:endParaRPr lang="en-US" sz="720" dirty="0"/>
          </a:p>
        </p:txBody>
      </p:sp>
      <p:sp>
        <p:nvSpPr>
          <p:cNvPr id="12" name="Shape 9"/>
          <p:cNvSpPr/>
          <p:nvPr/>
        </p:nvSpPr>
        <p:spPr>
          <a:xfrm>
            <a:off x="8869680" y="1325880"/>
            <a:ext cx="2057400" cy="960120"/>
          </a:xfrm>
          <a:prstGeom prst="roundRect">
            <a:avLst>
              <a:gd name="adj" fmla="val 7619"/>
            </a:avLst>
          </a:prstGeom>
          <a:solidFill>
            <a:srgbClr val="172033"/>
          </a:solidFill>
          <a:ln w="6350">
            <a:solidFill>
              <a:srgbClr val="24324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869680" y="1325880"/>
            <a:ext cx="54864" cy="960120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034272" y="149961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1,111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9034272" y="193852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</a:rPr>
              <a:t>False negatives</a:t>
            </a:r>
            <a:endParaRPr lang="en-US" sz="880" dirty="0"/>
          </a:p>
        </p:txBody>
      </p:sp>
      <p:sp>
        <p:nvSpPr>
          <p:cNvPr id="16" name="Text 13"/>
          <p:cNvSpPr/>
          <p:nvPr/>
        </p:nvSpPr>
        <p:spPr>
          <a:xfrm>
            <a:off x="9034272" y="2148840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4A3B8"/>
                </a:solidFill>
              </a:rPr>
              <a:t>missed readmissions</a:t>
            </a:r>
            <a:endParaRPr lang="en-US" sz="720" dirty="0"/>
          </a:p>
        </p:txBody>
      </p:sp>
      <p:sp>
        <p:nvSpPr>
          <p:cNvPr id="17" name="Shape 14"/>
          <p:cNvSpPr/>
          <p:nvPr/>
        </p:nvSpPr>
        <p:spPr>
          <a:xfrm>
            <a:off x="6492240" y="2743200"/>
            <a:ext cx="2057400" cy="960120"/>
          </a:xfrm>
          <a:prstGeom prst="roundRect">
            <a:avLst>
              <a:gd name="adj" fmla="val 7619"/>
            </a:avLst>
          </a:prstGeom>
          <a:solidFill>
            <a:srgbClr val="172033"/>
          </a:solidFill>
          <a:ln w="6350">
            <a:solidFill>
              <a:srgbClr val="24324D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492240" y="2743200"/>
            <a:ext cx="54864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656832" y="291693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4,511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6656832" y="335584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</a:rPr>
              <a:t>False positives</a:t>
            </a:r>
            <a:endParaRPr lang="en-US" sz="880" dirty="0"/>
          </a:p>
        </p:txBody>
      </p:sp>
      <p:sp>
        <p:nvSpPr>
          <p:cNvPr id="21" name="Text 18"/>
          <p:cNvSpPr/>
          <p:nvPr/>
        </p:nvSpPr>
        <p:spPr>
          <a:xfrm>
            <a:off x="6656832" y="3566160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4A3B8"/>
                </a:solidFill>
              </a:rPr>
              <a:t>extra alerts</a:t>
            </a:r>
            <a:endParaRPr lang="en-US" sz="720" dirty="0"/>
          </a:p>
        </p:txBody>
      </p:sp>
      <p:sp>
        <p:nvSpPr>
          <p:cNvPr id="22" name="Shape 19"/>
          <p:cNvSpPr/>
          <p:nvPr/>
        </p:nvSpPr>
        <p:spPr>
          <a:xfrm>
            <a:off x="8869680" y="2743200"/>
            <a:ext cx="2057400" cy="960120"/>
          </a:xfrm>
          <a:prstGeom prst="roundRect">
            <a:avLst>
              <a:gd name="adj" fmla="val 7619"/>
            </a:avLst>
          </a:prstGeom>
          <a:solidFill>
            <a:srgbClr val="172033"/>
          </a:solidFill>
          <a:ln w="6350">
            <a:solidFill>
              <a:srgbClr val="24324D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869680" y="2743200"/>
            <a:ext cx="54864" cy="960120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034272" y="291693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13,075</a:t>
            </a:r>
            <a:endParaRPr lang="en-US" sz="2400" dirty="0"/>
          </a:p>
        </p:txBody>
      </p:sp>
      <p:sp>
        <p:nvSpPr>
          <p:cNvPr id="25" name="Text 22"/>
          <p:cNvSpPr/>
          <p:nvPr/>
        </p:nvSpPr>
        <p:spPr>
          <a:xfrm>
            <a:off x="9034272" y="335584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</a:rPr>
              <a:t>True negatives</a:t>
            </a:r>
            <a:endParaRPr lang="en-US" sz="880" dirty="0"/>
          </a:p>
        </p:txBody>
      </p:sp>
      <p:sp>
        <p:nvSpPr>
          <p:cNvPr id="26" name="Text 23"/>
          <p:cNvSpPr/>
          <p:nvPr/>
        </p:nvSpPr>
        <p:spPr>
          <a:xfrm>
            <a:off x="9034272" y="3566160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4A3B8"/>
                </a:solidFill>
              </a:rPr>
              <a:t>correct low-risk</a:t>
            </a:r>
            <a:endParaRPr lang="en-US" sz="720" dirty="0"/>
          </a:p>
        </p:txBody>
      </p:sp>
      <p:sp>
        <p:nvSpPr>
          <p:cNvPr id="27" name="Text 24"/>
          <p:cNvSpPr/>
          <p:nvPr/>
        </p:nvSpPr>
        <p:spPr>
          <a:xfrm>
            <a:off x="6629400" y="437083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Recall for class 1 = 0.4986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629400" y="4800600"/>
            <a:ext cx="416052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The final model catches approximately half of patients actually readmitted within 30 days, which matches the project’s recall-oriented goal for an imbalanced clinical risk task.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0896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Deployment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The final model is packaged and exposed through both API and web UI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9509760" y="6528816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Diabetes Hospital Readmission Prediction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2441448" y="2258568"/>
            <a:ext cx="530352" cy="0"/>
          </a:xfrm>
          <a:prstGeom prst="line">
            <a:avLst/>
          </a:prstGeom>
          <a:noFill/>
          <a:ln w="15240">
            <a:solidFill>
              <a:srgbClr val="38BDF8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590288" y="2258568"/>
            <a:ext cx="530352" cy="0"/>
          </a:xfrm>
          <a:prstGeom prst="line">
            <a:avLst/>
          </a:prstGeom>
          <a:noFill/>
          <a:ln w="15240">
            <a:solidFill>
              <a:srgbClr val="38BDF8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739128" y="2258568"/>
            <a:ext cx="530352" cy="0"/>
          </a:xfrm>
          <a:prstGeom prst="line">
            <a:avLst/>
          </a:prstGeom>
          <a:noFill/>
          <a:ln w="15240">
            <a:solidFill>
              <a:srgbClr val="38BDF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887968" y="2258568"/>
            <a:ext cx="530352" cy="0"/>
          </a:xfrm>
          <a:prstGeom prst="line">
            <a:avLst/>
          </a:prstGeom>
          <a:noFill/>
          <a:ln w="15240">
            <a:solidFill>
              <a:srgbClr val="38BDF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77240" y="1920240"/>
            <a:ext cx="1664208" cy="685800"/>
          </a:xfrm>
          <a:prstGeom prst="roundRect">
            <a:avLst>
              <a:gd name="adj" fmla="val 9333"/>
            </a:avLst>
          </a:prstGeom>
          <a:solidFill>
            <a:srgbClr val="172033"/>
          </a:solidFill>
          <a:ln w="6350">
            <a:solidFill>
              <a:srgbClr val="2B38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057400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8FAFC"/>
                </a:solidFill>
              </a:rPr>
              <a:t>Notebook</a:t>
            </a:r>
            <a:endParaRPr lang="en-US" sz="1120" dirty="0"/>
          </a:p>
        </p:txBody>
      </p:sp>
      <p:sp>
        <p:nvSpPr>
          <p:cNvPr id="12" name="Text 10"/>
          <p:cNvSpPr/>
          <p:nvPr/>
        </p:nvSpPr>
        <p:spPr>
          <a:xfrm>
            <a:off x="868680" y="2313432"/>
            <a:ext cx="1481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94A3B8"/>
                </a:solidFill>
              </a:rPr>
              <a:t>training + evaluation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2926080" y="1920240"/>
            <a:ext cx="1664208" cy="685800"/>
          </a:xfrm>
          <a:prstGeom prst="roundRect">
            <a:avLst>
              <a:gd name="adj" fmla="val 9333"/>
            </a:avLst>
          </a:prstGeom>
          <a:solidFill>
            <a:srgbClr val="172033"/>
          </a:solidFill>
          <a:ln w="6350">
            <a:solidFill>
              <a:srgbClr val="2B38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17520" y="2057400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8FAFC"/>
                </a:solidFill>
              </a:rPr>
              <a:t>Joblib Bundle</a:t>
            </a:r>
            <a:endParaRPr lang="en-US" sz="1120" dirty="0"/>
          </a:p>
        </p:txBody>
      </p:sp>
      <p:sp>
        <p:nvSpPr>
          <p:cNvPr id="15" name="Text 13"/>
          <p:cNvSpPr/>
          <p:nvPr/>
        </p:nvSpPr>
        <p:spPr>
          <a:xfrm>
            <a:off x="3017520" y="2313432"/>
            <a:ext cx="1481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94A3B8"/>
                </a:solidFill>
              </a:rPr>
              <a:t>models + preprocessing</a:t>
            </a:r>
            <a:endParaRPr lang="en-US" sz="740" dirty="0"/>
          </a:p>
        </p:txBody>
      </p:sp>
      <p:sp>
        <p:nvSpPr>
          <p:cNvPr id="16" name="Shape 14"/>
          <p:cNvSpPr/>
          <p:nvPr/>
        </p:nvSpPr>
        <p:spPr>
          <a:xfrm>
            <a:off x="5074920" y="1920240"/>
            <a:ext cx="1664208" cy="685800"/>
          </a:xfrm>
          <a:prstGeom prst="roundRect">
            <a:avLst>
              <a:gd name="adj" fmla="val 9333"/>
            </a:avLst>
          </a:prstGeom>
          <a:solidFill>
            <a:srgbClr val="172033"/>
          </a:solidFill>
          <a:ln w="6350">
            <a:solidFill>
              <a:srgbClr val="2B385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66360" y="2057400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8FAFC"/>
                </a:solidFill>
              </a:rPr>
              <a:t>inference.py</a:t>
            </a:r>
            <a:endParaRPr lang="en-US" sz="1120" dirty="0"/>
          </a:p>
        </p:txBody>
      </p:sp>
      <p:sp>
        <p:nvSpPr>
          <p:cNvPr id="18" name="Text 16"/>
          <p:cNvSpPr/>
          <p:nvPr/>
        </p:nvSpPr>
        <p:spPr>
          <a:xfrm>
            <a:off x="5166360" y="2313432"/>
            <a:ext cx="1481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94A3B8"/>
                </a:solidFill>
              </a:rPr>
              <a:t>clean + predict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7223760" y="1920240"/>
            <a:ext cx="1664208" cy="685800"/>
          </a:xfrm>
          <a:prstGeom prst="roundRect">
            <a:avLst>
              <a:gd name="adj" fmla="val 9333"/>
            </a:avLst>
          </a:prstGeom>
          <a:solidFill>
            <a:srgbClr val="172033"/>
          </a:solidFill>
          <a:ln w="6350">
            <a:solidFill>
              <a:srgbClr val="2B385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0" y="2057400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8FAFC"/>
                </a:solidFill>
              </a:rPr>
              <a:t>FastAPI</a:t>
            </a:r>
            <a:endParaRPr lang="en-US" sz="1120" dirty="0"/>
          </a:p>
        </p:txBody>
      </p:sp>
      <p:sp>
        <p:nvSpPr>
          <p:cNvPr id="21" name="Text 19"/>
          <p:cNvSpPr/>
          <p:nvPr/>
        </p:nvSpPr>
        <p:spPr>
          <a:xfrm>
            <a:off x="7315200" y="2313432"/>
            <a:ext cx="1481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94A3B8"/>
                </a:solidFill>
              </a:rPr>
              <a:t>/predict endpoint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9372600" y="1920240"/>
            <a:ext cx="1664208" cy="685800"/>
          </a:xfrm>
          <a:prstGeom prst="roundRect">
            <a:avLst>
              <a:gd name="adj" fmla="val 9333"/>
            </a:avLst>
          </a:prstGeom>
          <a:solidFill>
            <a:srgbClr val="172033"/>
          </a:solidFill>
          <a:ln w="6350">
            <a:solidFill>
              <a:srgbClr val="2B385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64040" y="2057400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4ADE80"/>
                </a:solidFill>
              </a:rPr>
              <a:t>Streamlit</a:t>
            </a:r>
            <a:endParaRPr lang="en-US" sz="1120" dirty="0"/>
          </a:p>
        </p:txBody>
      </p:sp>
      <p:sp>
        <p:nvSpPr>
          <p:cNvPr id="24" name="Text 22"/>
          <p:cNvSpPr/>
          <p:nvPr/>
        </p:nvSpPr>
        <p:spPr>
          <a:xfrm>
            <a:off x="9464040" y="2313432"/>
            <a:ext cx="1481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94A3B8"/>
                </a:solidFill>
              </a:rPr>
              <a:t>user-facing UI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777240" y="3657600"/>
            <a:ext cx="5212080" cy="1691640"/>
          </a:xfrm>
          <a:prstGeom prst="roundRect">
            <a:avLst>
              <a:gd name="adj" fmla="val 4324"/>
            </a:avLst>
          </a:prstGeom>
          <a:solidFill>
            <a:srgbClr val="172033"/>
          </a:solidFill>
          <a:ln w="6350">
            <a:solidFill>
              <a:srgbClr val="2B385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5840" y="38862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</a:rPr>
              <a:t>Deployment bundle contains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1005840" y="4315968"/>
            <a:ext cx="448056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980" dirty="0">
                <a:solidFill>
                  <a:srgbClr val="CBD5E1"/>
                </a:solidFill>
              </a:rPr>
              <a:t>Tuned LightGBM + XGBoost models</a:t>
            </a:r>
            <a:endParaRPr lang="en-US" sz="980" dirty="0"/>
          </a:p>
          <a:p>
            <a:pPr marL="152400" indent="-152400">
              <a:buSzPct val="100000"/>
              <a:buChar char="•"/>
            </a:pPr>
            <a:r>
              <a:rPr lang="en-US" sz="980" dirty="0">
                <a:solidFill>
                  <a:srgbClr val="CBD5E1"/>
                </a:solidFill>
              </a:rPr>
              <a:t>Encoders, scalers and engineered-feature preprocessor</a:t>
            </a:r>
            <a:endParaRPr lang="en-US" sz="980" dirty="0"/>
          </a:p>
          <a:p>
            <a:pPr marL="152400" indent="-152400">
              <a:buSzPct val="100000"/>
              <a:buChar char="•"/>
            </a:pPr>
            <a:r>
              <a:rPr lang="en-US" sz="980" dirty="0">
                <a:solidFill>
                  <a:srgbClr val="CBD5E1"/>
                </a:solidFill>
              </a:rPr>
              <a:t>Weights: 0.60 / 0.40 and threshold: 0.13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6446520" y="3657600"/>
            <a:ext cx="4800600" cy="1691640"/>
          </a:xfrm>
          <a:prstGeom prst="roundRect">
            <a:avLst>
              <a:gd name="adj" fmla="val 4324"/>
            </a:avLst>
          </a:prstGeom>
          <a:solidFill>
            <a:srgbClr val="172033"/>
          </a:solidFill>
          <a:ln w="6350">
            <a:solidFill>
              <a:srgbClr val="2B385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75120" y="38862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</a:rPr>
              <a:t>Live demo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6675120" y="4315968"/>
            <a:ext cx="416052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Streamlit Cloud is connected to the GitHub repository. Updates to app.py are pushed to main and redeployed automatically.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675120" y="4892040"/>
            <a:ext cx="2377440" cy="329184"/>
          </a:xfrm>
          <a:prstGeom prst="roundRect">
            <a:avLst>
              <a:gd name="adj" fmla="val 22222"/>
            </a:avLst>
          </a:prstGeom>
          <a:solidFill>
            <a:srgbClr val="4ADE8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48272" y="4965192"/>
            <a:ext cx="2231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020"/>
                </a:solidFill>
              </a:rPr>
              <a:t>FastAPI tested with code 200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0896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Working demo evidence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Streamlit form and FastAPI endpoint were both validated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9509760" y="6528816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Diabetes Hospital Readmission Prediction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85800" y="1143000"/>
            <a:ext cx="5166360" cy="4297680"/>
          </a:xfrm>
          <a:prstGeom prst="roundRect">
            <a:avLst>
              <a:gd name="adj" fmla="val 1702"/>
            </a:avLst>
          </a:prstGeom>
          <a:solidFill>
            <a:srgbClr val="172033"/>
          </a:solidFill>
          <a:ln w="6350">
            <a:solidFill>
              <a:srgbClr val="2B38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44475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Streamlit Cloud UI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175564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Form-based patient input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60120" y="2212848"/>
            <a:ext cx="1325880" cy="384048"/>
          </a:xfrm>
          <a:prstGeom prst="roundRect">
            <a:avLst>
              <a:gd name="adj" fmla="val 9524"/>
            </a:avLst>
          </a:prstGeom>
          <a:solidFill>
            <a:srgbClr val="1F2A44"/>
          </a:solidFill>
          <a:ln w="508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3272" y="2331720"/>
            <a:ext cx="11704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CBD5E1"/>
                </a:solidFill>
              </a:rPr>
              <a:t>Race</a:t>
            </a:r>
            <a:endParaRPr lang="en-US" sz="760" dirty="0"/>
          </a:p>
        </p:txBody>
      </p:sp>
      <p:sp>
        <p:nvSpPr>
          <p:cNvPr id="11" name="Shape 9"/>
          <p:cNvSpPr/>
          <p:nvPr/>
        </p:nvSpPr>
        <p:spPr>
          <a:xfrm>
            <a:off x="2514600" y="2212848"/>
            <a:ext cx="1325880" cy="384048"/>
          </a:xfrm>
          <a:prstGeom prst="roundRect">
            <a:avLst>
              <a:gd name="adj" fmla="val 9524"/>
            </a:avLst>
          </a:prstGeom>
          <a:solidFill>
            <a:srgbClr val="1F2A44"/>
          </a:solidFill>
          <a:ln w="508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87752" y="2331720"/>
            <a:ext cx="11704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CBD5E1"/>
                </a:solidFill>
              </a:rPr>
              <a:t>Gender</a:t>
            </a:r>
            <a:endParaRPr lang="en-US" sz="760" dirty="0"/>
          </a:p>
        </p:txBody>
      </p:sp>
      <p:sp>
        <p:nvSpPr>
          <p:cNvPr id="13" name="Shape 11"/>
          <p:cNvSpPr/>
          <p:nvPr/>
        </p:nvSpPr>
        <p:spPr>
          <a:xfrm>
            <a:off x="4069080" y="2212848"/>
            <a:ext cx="1325880" cy="384048"/>
          </a:xfrm>
          <a:prstGeom prst="roundRect">
            <a:avLst>
              <a:gd name="adj" fmla="val 9524"/>
            </a:avLst>
          </a:prstGeom>
          <a:solidFill>
            <a:srgbClr val="1F2A44"/>
          </a:solidFill>
          <a:ln w="508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42232" y="2331720"/>
            <a:ext cx="11704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CBD5E1"/>
                </a:solidFill>
              </a:rPr>
              <a:t>Age group</a:t>
            </a:r>
            <a:endParaRPr lang="en-US" sz="760" dirty="0"/>
          </a:p>
        </p:txBody>
      </p:sp>
      <p:sp>
        <p:nvSpPr>
          <p:cNvPr id="15" name="Shape 13"/>
          <p:cNvSpPr/>
          <p:nvPr/>
        </p:nvSpPr>
        <p:spPr>
          <a:xfrm>
            <a:off x="960120" y="2779776"/>
            <a:ext cx="1325880" cy="384048"/>
          </a:xfrm>
          <a:prstGeom prst="roundRect">
            <a:avLst>
              <a:gd name="adj" fmla="val 9524"/>
            </a:avLst>
          </a:prstGeom>
          <a:solidFill>
            <a:srgbClr val="1F2A44"/>
          </a:solidFill>
          <a:ln w="508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33272" y="2898648"/>
            <a:ext cx="11704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CBD5E1"/>
                </a:solidFill>
              </a:rPr>
              <a:t>Admission type</a:t>
            </a:r>
            <a:endParaRPr lang="en-US" sz="760" dirty="0"/>
          </a:p>
        </p:txBody>
      </p:sp>
      <p:sp>
        <p:nvSpPr>
          <p:cNvPr id="17" name="Shape 15"/>
          <p:cNvSpPr/>
          <p:nvPr/>
        </p:nvSpPr>
        <p:spPr>
          <a:xfrm>
            <a:off x="2514600" y="2779776"/>
            <a:ext cx="1325880" cy="384048"/>
          </a:xfrm>
          <a:prstGeom prst="roundRect">
            <a:avLst>
              <a:gd name="adj" fmla="val 9524"/>
            </a:avLst>
          </a:prstGeom>
          <a:solidFill>
            <a:srgbClr val="1F2A44"/>
          </a:solidFill>
          <a:ln w="508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87752" y="2898648"/>
            <a:ext cx="11704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CBD5E1"/>
                </a:solidFill>
              </a:rPr>
              <a:t>Time in hospital</a:t>
            </a:r>
            <a:endParaRPr lang="en-US" sz="760" dirty="0"/>
          </a:p>
        </p:txBody>
      </p:sp>
      <p:sp>
        <p:nvSpPr>
          <p:cNvPr id="19" name="Shape 17"/>
          <p:cNvSpPr/>
          <p:nvPr/>
        </p:nvSpPr>
        <p:spPr>
          <a:xfrm>
            <a:off x="4069080" y="2779776"/>
            <a:ext cx="1325880" cy="384048"/>
          </a:xfrm>
          <a:prstGeom prst="roundRect">
            <a:avLst>
              <a:gd name="adj" fmla="val 9524"/>
            </a:avLst>
          </a:prstGeom>
          <a:solidFill>
            <a:srgbClr val="1F2A44"/>
          </a:solidFill>
          <a:ln w="508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42232" y="2898648"/>
            <a:ext cx="11704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CBD5E1"/>
                </a:solidFill>
              </a:rPr>
              <a:t>Medical specialty</a:t>
            </a:r>
            <a:endParaRPr lang="en-US" sz="760" dirty="0"/>
          </a:p>
        </p:txBody>
      </p:sp>
      <p:sp>
        <p:nvSpPr>
          <p:cNvPr id="21" name="Shape 19"/>
          <p:cNvSpPr/>
          <p:nvPr/>
        </p:nvSpPr>
        <p:spPr>
          <a:xfrm>
            <a:off x="960120" y="3346704"/>
            <a:ext cx="1325880" cy="384048"/>
          </a:xfrm>
          <a:prstGeom prst="roundRect">
            <a:avLst>
              <a:gd name="adj" fmla="val 9524"/>
            </a:avLst>
          </a:prstGeom>
          <a:solidFill>
            <a:srgbClr val="1F2A44"/>
          </a:solidFill>
          <a:ln w="508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33272" y="3465576"/>
            <a:ext cx="11704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CBD5E1"/>
                </a:solidFill>
              </a:rPr>
              <a:t>Lab procedures</a:t>
            </a:r>
            <a:endParaRPr lang="en-US" sz="760" dirty="0"/>
          </a:p>
        </p:txBody>
      </p:sp>
      <p:sp>
        <p:nvSpPr>
          <p:cNvPr id="23" name="Shape 21"/>
          <p:cNvSpPr/>
          <p:nvPr/>
        </p:nvSpPr>
        <p:spPr>
          <a:xfrm>
            <a:off x="2514600" y="3346704"/>
            <a:ext cx="1325880" cy="384048"/>
          </a:xfrm>
          <a:prstGeom prst="roundRect">
            <a:avLst>
              <a:gd name="adj" fmla="val 9524"/>
            </a:avLst>
          </a:prstGeom>
          <a:solidFill>
            <a:srgbClr val="1F2A44"/>
          </a:solidFill>
          <a:ln w="508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87752" y="3465576"/>
            <a:ext cx="11704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CBD5E1"/>
                </a:solidFill>
              </a:rPr>
              <a:t>Medications</a:t>
            </a:r>
            <a:endParaRPr lang="en-US" sz="760" dirty="0"/>
          </a:p>
        </p:txBody>
      </p:sp>
      <p:sp>
        <p:nvSpPr>
          <p:cNvPr id="25" name="Shape 23"/>
          <p:cNvSpPr/>
          <p:nvPr/>
        </p:nvSpPr>
        <p:spPr>
          <a:xfrm>
            <a:off x="4069080" y="3346704"/>
            <a:ext cx="1325880" cy="384048"/>
          </a:xfrm>
          <a:prstGeom prst="roundRect">
            <a:avLst>
              <a:gd name="adj" fmla="val 9524"/>
            </a:avLst>
          </a:prstGeom>
          <a:solidFill>
            <a:srgbClr val="1F2A44"/>
          </a:solidFill>
          <a:ln w="508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42232" y="3465576"/>
            <a:ext cx="11704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CBD5E1"/>
                </a:solidFill>
              </a:rPr>
              <a:t>Diagnoses</a:t>
            </a:r>
            <a:endParaRPr lang="en-US" sz="760" dirty="0"/>
          </a:p>
        </p:txBody>
      </p:sp>
      <p:sp>
        <p:nvSpPr>
          <p:cNvPr id="27" name="Shape 25"/>
          <p:cNvSpPr/>
          <p:nvPr/>
        </p:nvSpPr>
        <p:spPr>
          <a:xfrm>
            <a:off x="960120" y="3913632"/>
            <a:ext cx="1325880" cy="384048"/>
          </a:xfrm>
          <a:prstGeom prst="roundRect">
            <a:avLst>
              <a:gd name="adj" fmla="val 9524"/>
            </a:avLst>
          </a:prstGeom>
          <a:solidFill>
            <a:srgbClr val="1F2A44"/>
          </a:solidFill>
          <a:ln w="5080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33272" y="4032504"/>
            <a:ext cx="11704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CBD5E1"/>
                </a:solidFill>
              </a:rPr>
              <a:t>Previous visits</a:t>
            </a:r>
            <a:endParaRPr lang="en-US" sz="760" dirty="0"/>
          </a:p>
        </p:txBody>
      </p:sp>
      <p:sp>
        <p:nvSpPr>
          <p:cNvPr id="29" name="Shape 27"/>
          <p:cNvSpPr/>
          <p:nvPr/>
        </p:nvSpPr>
        <p:spPr>
          <a:xfrm>
            <a:off x="2514600" y="3913632"/>
            <a:ext cx="1325880" cy="384048"/>
          </a:xfrm>
          <a:prstGeom prst="roundRect">
            <a:avLst>
              <a:gd name="adj" fmla="val 9524"/>
            </a:avLst>
          </a:prstGeom>
          <a:solidFill>
            <a:srgbClr val="1F2A44"/>
          </a:solidFill>
          <a:ln w="508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87752" y="4032504"/>
            <a:ext cx="11704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CBD5E1"/>
                </a:solidFill>
              </a:rPr>
              <a:t>ICD codes</a:t>
            </a:r>
            <a:endParaRPr lang="en-US" sz="760" dirty="0"/>
          </a:p>
        </p:txBody>
      </p:sp>
      <p:sp>
        <p:nvSpPr>
          <p:cNvPr id="31" name="Shape 29"/>
          <p:cNvSpPr/>
          <p:nvPr/>
        </p:nvSpPr>
        <p:spPr>
          <a:xfrm>
            <a:off x="4069080" y="3913632"/>
            <a:ext cx="1325880" cy="384048"/>
          </a:xfrm>
          <a:prstGeom prst="roundRect">
            <a:avLst>
              <a:gd name="adj" fmla="val 9524"/>
            </a:avLst>
          </a:prstGeom>
          <a:solidFill>
            <a:srgbClr val="1F2A44"/>
          </a:solidFill>
          <a:ln w="5080">
            <a:solidFill>
              <a:srgbClr val="3341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42232" y="4032504"/>
            <a:ext cx="11704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CBD5E1"/>
                </a:solidFill>
              </a:rPr>
              <a:t>Diabetes meds</a:t>
            </a:r>
            <a:endParaRPr lang="en-US" sz="760" dirty="0"/>
          </a:p>
        </p:txBody>
      </p:sp>
      <p:sp>
        <p:nvSpPr>
          <p:cNvPr id="33" name="Shape 31"/>
          <p:cNvSpPr/>
          <p:nvPr/>
        </p:nvSpPr>
        <p:spPr>
          <a:xfrm>
            <a:off x="960120" y="4617720"/>
            <a:ext cx="4553712" cy="402336"/>
          </a:xfrm>
          <a:prstGeom prst="roundRect">
            <a:avLst>
              <a:gd name="adj" fmla="val 11364"/>
            </a:avLst>
          </a:prstGeom>
          <a:solidFill>
            <a:srgbClr val="EF444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97280" y="4736592"/>
            <a:ext cx="4251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Predict Readmission Risk</a:t>
            </a:r>
            <a:endParaRPr lang="en-US" sz="850" dirty="0"/>
          </a:p>
        </p:txBody>
      </p:sp>
      <p:pic>
        <p:nvPicPr>
          <p:cNvPr id="35" name="Image 0" descr="/mnt/data/image(20260924-232641).png">    </p:cNvPr>
          <p:cNvPicPr>
            <a:picLocks noChangeAspect="1"/>
          </p:cNvPicPr>
          <p:nvPr/>
        </p:nvPicPr>
        <p:blipFill>
          <a:blip r:embed="rId1"/>
          <a:srcRect l="0" r="52103" t="0" b="25000"/>
          <a:stretch/>
        </p:blipFill>
        <p:spPr>
          <a:xfrm>
            <a:off x="6355080" y="1143000"/>
            <a:ext cx="5166360" cy="4297680"/>
          </a:xfrm>
          <a:prstGeom prst="rect">
            <a:avLst/>
          </a:prstGeom>
        </p:spPr>
      </p:pic>
      <p:sp>
        <p:nvSpPr>
          <p:cNvPr id="36" name="Shape 33"/>
          <p:cNvSpPr/>
          <p:nvPr/>
        </p:nvSpPr>
        <p:spPr>
          <a:xfrm>
            <a:off x="914400" y="5715000"/>
            <a:ext cx="2240280" cy="329184"/>
          </a:xfrm>
          <a:prstGeom prst="roundRect">
            <a:avLst>
              <a:gd name="adj" fmla="val 22222"/>
            </a:avLst>
          </a:prstGeom>
          <a:solidFill>
            <a:srgbClr val="4ADE8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87552" y="5788152"/>
            <a:ext cx="2093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020"/>
                </a:solidFill>
              </a:rPr>
              <a:t>Streamlit app deployed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6583680" y="5715000"/>
            <a:ext cx="2514600" cy="329184"/>
          </a:xfrm>
          <a:prstGeom prst="roundRect">
            <a:avLst>
              <a:gd name="adj" fmla="val 22222"/>
            </a:avLst>
          </a:prstGeom>
          <a:solidFill>
            <a:srgbClr val="38BD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656832" y="5788152"/>
            <a:ext cx="2368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020"/>
                </a:solidFill>
              </a:rPr>
              <a:t>FastAPI /predict returns 200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0896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Conclusions &amp; limitations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What worked, what did not, and what could be improved next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9509760" y="6528816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Diabetes Hospital Readmission Prediction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4892040" cy="1417320"/>
          </a:xfrm>
          <a:prstGeom prst="roundRect">
            <a:avLst>
              <a:gd name="adj" fmla="val 5161"/>
            </a:avLst>
          </a:prstGeom>
          <a:solidFill>
            <a:srgbClr val="172033"/>
          </a:solidFill>
          <a:ln w="6350">
            <a:solidFill>
              <a:srgbClr val="2B38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4592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4ADE80"/>
                </a:solidFill>
              </a:rPr>
              <a:t>What worked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914400" y="2075688"/>
            <a:ext cx="434340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CBD5E1"/>
                </a:solidFill>
              </a:rPr>
              <a:t>Feature engineering, LightGBM tuning and probability ensembling gave the strongest validation performance.</a:t>
            </a:r>
            <a:endParaRPr lang="en-US" sz="1070" dirty="0"/>
          </a:p>
        </p:txBody>
      </p:sp>
      <p:sp>
        <p:nvSpPr>
          <p:cNvPr id="9" name="Shape 7"/>
          <p:cNvSpPr/>
          <p:nvPr/>
        </p:nvSpPr>
        <p:spPr>
          <a:xfrm>
            <a:off x="6355080" y="1417320"/>
            <a:ext cx="4892040" cy="1417320"/>
          </a:xfrm>
          <a:prstGeom prst="roundRect">
            <a:avLst>
              <a:gd name="adj" fmla="val 5161"/>
            </a:avLst>
          </a:prstGeom>
          <a:solidFill>
            <a:srgbClr val="172033"/>
          </a:solidFill>
          <a:ln w="6350">
            <a:solidFill>
              <a:srgbClr val="2B38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164592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59E0B"/>
                </a:solidFill>
              </a:rPr>
              <a:t>What did not add much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583680" y="2075688"/>
            <a:ext cx="434340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CBD5E1"/>
                </a:solidFill>
              </a:rPr>
              <a:t>Full SMOTE, partial SMOTE and feature selection did not clearly improve the final ranking metrics.</a:t>
            </a:r>
            <a:endParaRPr lang="en-US" sz="1070" dirty="0"/>
          </a:p>
        </p:txBody>
      </p:sp>
      <p:sp>
        <p:nvSpPr>
          <p:cNvPr id="12" name="Shape 10"/>
          <p:cNvSpPr/>
          <p:nvPr/>
        </p:nvSpPr>
        <p:spPr>
          <a:xfrm>
            <a:off x="685800" y="3703320"/>
            <a:ext cx="4892040" cy="1417320"/>
          </a:xfrm>
          <a:prstGeom prst="roundRect">
            <a:avLst>
              <a:gd name="adj" fmla="val 5161"/>
            </a:avLst>
          </a:prstGeom>
          <a:solidFill>
            <a:srgbClr val="172033"/>
          </a:solidFill>
          <a:ln w="6350">
            <a:solidFill>
              <a:srgbClr val="2B38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93192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F4444"/>
                </a:solidFill>
              </a:rPr>
              <a:t>Main trade-off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914400" y="4361688"/>
            <a:ext cx="434340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CBD5E1"/>
                </a:solidFill>
              </a:rPr>
              <a:t>Lower threshold increased recall, but also increased false positives and reduced precision.</a:t>
            </a:r>
            <a:endParaRPr lang="en-US" sz="1070" dirty="0"/>
          </a:p>
        </p:txBody>
      </p:sp>
      <p:sp>
        <p:nvSpPr>
          <p:cNvPr id="15" name="Shape 13"/>
          <p:cNvSpPr/>
          <p:nvPr/>
        </p:nvSpPr>
        <p:spPr>
          <a:xfrm>
            <a:off x="6355080" y="3703320"/>
            <a:ext cx="4892040" cy="1417320"/>
          </a:xfrm>
          <a:prstGeom prst="roundRect">
            <a:avLst>
              <a:gd name="adj" fmla="val 5161"/>
            </a:avLst>
          </a:prstGeom>
          <a:solidFill>
            <a:srgbClr val="172033"/>
          </a:solidFill>
          <a:ln w="6350">
            <a:solidFill>
              <a:srgbClr val="2B385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393192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8BDF8"/>
                </a:solidFill>
              </a:rPr>
              <a:t>Future work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583680" y="4361688"/>
            <a:ext cx="434340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CBD5E1"/>
                </a:solidFill>
              </a:rPr>
              <a:t>Try richer clinical variables, calibrated probabilities, temporal features and external validation.</a:t>
            </a:r>
            <a:endParaRPr lang="en-US" sz="1070" dirty="0"/>
          </a:p>
        </p:txBody>
      </p:sp>
      <p:sp>
        <p:nvSpPr>
          <p:cNvPr id="18" name="Text 16"/>
          <p:cNvSpPr/>
          <p:nvPr/>
        </p:nvSpPr>
        <p:spPr>
          <a:xfrm>
            <a:off x="914400" y="589788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8FAFC"/>
                </a:solidFill>
              </a:rPr>
              <a:t>Final takeaway: the project delivers a leakage-aware ML pipeline and a working web/API deployment, while making the precision–recall trade-off explicit.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0896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deliverables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Files, repository and cloud demo ready for submission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9509760" y="6528816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Diabetes Hospital Readmission Prediction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777240" y="1371600"/>
            <a:ext cx="4937760" cy="3840480"/>
          </a:xfrm>
          <a:prstGeom prst="roundRect">
            <a:avLst>
              <a:gd name="adj" fmla="val 1905"/>
            </a:avLst>
          </a:prstGeom>
          <a:solidFill>
            <a:srgbClr val="172033"/>
          </a:solidFill>
          <a:ln w="6350">
            <a:solidFill>
              <a:srgbClr val="2B38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691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Project files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2148840"/>
            <a:ext cx="416052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130" dirty="0">
                <a:solidFill>
                  <a:srgbClr val="CBD5E1"/>
                </a:solidFill>
              </a:rPr>
              <a:t>Notebook with full ML pipeline</a:t>
            </a:r>
            <a:endParaRPr lang="en-US" sz="1130" dirty="0"/>
          </a:p>
          <a:p>
            <a:pPr marL="152400" indent="-152400">
              <a:buSzPct val="100000"/>
              <a:buChar char="•"/>
            </a:pPr>
            <a:r>
              <a:rPr lang="en-US" sz="1130" dirty="0">
                <a:solidFill>
                  <a:srgbClr val="CBD5E1"/>
                </a:solidFill>
              </a:rPr>
              <a:t>final_readmission_ensemble.joblib</a:t>
            </a:r>
            <a:endParaRPr lang="en-US" sz="1130" dirty="0"/>
          </a:p>
          <a:p>
            <a:pPr marL="152400" indent="-152400">
              <a:buSzPct val="100000"/>
              <a:buChar char="•"/>
            </a:pPr>
            <a:r>
              <a:rPr lang="en-US" sz="1130" dirty="0">
                <a:solidFill>
                  <a:srgbClr val="CBD5E1"/>
                </a:solidFill>
              </a:rPr>
              <a:t>inference.py, api.py, app.py</a:t>
            </a:r>
            <a:endParaRPr lang="en-US" sz="1130" dirty="0"/>
          </a:p>
          <a:p>
            <a:pPr marL="152400" indent="-152400">
              <a:buSzPct val="100000"/>
              <a:buChar char="•"/>
            </a:pPr>
            <a:r>
              <a:rPr lang="en-US" sz="1130" dirty="0">
                <a:solidFill>
                  <a:srgbClr val="CBD5E1"/>
                </a:solidFill>
              </a:rPr>
              <a:t>requirements.txt and README.md</a:t>
            </a:r>
            <a:endParaRPr lang="en-US" sz="1130" dirty="0"/>
          </a:p>
          <a:p>
            <a:pPr marL="152400" indent="-152400">
              <a:buSzPct val="100000"/>
              <a:buChar char="•"/>
            </a:pPr>
            <a:r>
              <a:rPr lang="en-US" sz="1130" dirty="0">
                <a:solidFill>
                  <a:srgbClr val="CBD5E1"/>
                </a:solidFill>
              </a:rPr>
              <a:t>IDS_mapping.csv</a:t>
            </a:r>
            <a:endParaRPr lang="en-US" sz="1130" dirty="0"/>
          </a:p>
        </p:txBody>
      </p:sp>
      <p:sp>
        <p:nvSpPr>
          <p:cNvPr id="9" name="Shape 7"/>
          <p:cNvSpPr/>
          <p:nvPr/>
        </p:nvSpPr>
        <p:spPr>
          <a:xfrm>
            <a:off x="6446520" y="1371600"/>
            <a:ext cx="4937760" cy="3840480"/>
          </a:xfrm>
          <a:prstGeom prst="roundRect">
            <a:avLst>
              <a:gd name="adj" fmla="val 1905"/>
            </a:avLst>
          </a:prstGeom>
          <a:solidFill>
            <a:srgbClr val="172033"/>
          </a:solidFill>
          <a:ln w="6350">
            <a:solidFill>
              <a:srgbClr val="2B38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20840" y="1691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Links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20840" y="219456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GitHub Repository</a:t>
            </a:r>
            <a:endParaRPr lang="en-US" sz="1100" dirty="0"/>
          </a:p>
        </p:txBody>
      </p:sp>
      <p:sp>
        <p:nvSpPr>
          <p:cNvPr id="12" name="Text 10">
            <a:hlinkClick r:id="rId1" tooltip=""/>
          </p:cNvPr>
          <p:cNvSpPr/>
          <p:nvPr/>
        </p:nvSpPr>
        <p:spPr>
          <a:xfrm>
            <a:off x="6720840" y="25146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u="sng" dirty="0">
                <a:solidFill>
                  <a:srgbClr val="CBD5E1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https://github.com/ahmedalwaer1/diabetes-readmission-ml</a:t>
            </a:r>
            <a:endParaRPr lang="en-US" sz="940" dirty="0"/>
          </a:p>
        </p:txBody>
      </p:sp>
      <p:sp>
        <p:nvSpPr>
          <p:cNvPr id="13" name="Text 11"/>
          <p:cNvSpPr/>
          <p:nvPr/>
        </p:nvSpPr>
        <p:spPr>
          <a:xfrm>
            <a:off x="6720840" y="315468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</a:rPr>
              <a:t>Streamlit Demo</a:t>
            </a:r>
            <a:endParaRPr lang="en-US" sz="1100" dirty="0"/>
          </a:p>
        </p:txBody>
      </p:sp>
      <p:sp>
        <p:nvSpPr>
          <p:cNvPr id="14" name="Text 12">
            <a:hlinkClick r:id="rId2" tooltip=""/>
          </p:cNvPr>
          <p:cNvSpPr/>
          <p:nvPr/>
        </p:nvSpPr>
        <p:spPr>
          <a:xfrm>
            <a:off x="6720840" y="34747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u="sng" dirty="0">
                <a:solidFill>
                  <a:srgbClr val="CBD5E1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https://diabetes-readmission-ml-ehkdw6rnzrjqcbfugsenjz.streamlit.app</a:t>
            </a:r>
            <a:endParaRPr lang="en-US" sz="940" dirty="0"/>
          </a:p>
        </p:txBody>
      </p:sp>
      <p:sp>
        <p:nvSpPr>
          <p:cNvPr id="15" name="Shape 13"/>
          <p:cNvSpPr/>
          <p:nvPr/>
        </p:nvSpPr>
        <p:spPr>
          <a:xfrm>
            <a:off x="4206240" y="5806440"/>
            <a:ext cx="2834640" cy="329184"/>
          </a:xfrm>
          <a:prstGeom prst="roundRect">
            <a:avLst>
              <a:gd name="adj" fmla="val 22222"/>
            </a:avLst>
          </a:prstGeom>
          <a:solidFill>
            <a:srgbClr val="4ADE8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79392" y="5879592"/>
            <a:ext cx="2688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020"/>
                </a:solidFill>
              </a:rPr>
              <a:t>Ready for final submission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NTI Machine Learning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Diabetes Hospital Readmission Prediction</dc:title>
  <dc:subject>Diabetes Hospital Readmission ML Project</dc:subject>
  <dc:creator>ChatGPT</dc:creator>
  <cp:lastModifiedBy>ChatGPT</cp:lastModifiedBy>
  <cp:revision>1</cp:revision>
  <dcterms:created xsi:type="dcterms:W3CDTF">2026-09-25T00:25:27Z</dcterms:created>
  <dcterms:modified xsi:type="dcterms:W3CDTF">2026-09-25T00:25:27Z</dcterms:modified>
</cp:coreProperties>
</file>